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Proxima Nova"/>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ProximaNova-regular.fntdata"/><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ProximaNova-italic.fntdata"/><Relationship Id="rId14" Type="http://schemas.openxmlformats.org/officeDocument/2006/relationships/font" Target="fonts/ProximaNova-bold.fntdata"/><Relationship Id="rId16" Type="http://schemas.openxmlformats.org/officeDocument/2006/relationships/font" Target="fonts/ProximaNova-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51196b11d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51196b11d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51eefb4e4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751eefb4e4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51eefb4e4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751eefb4e4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751eefb4e4_2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751eefb4e4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751eefb4e4_2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751eefb4e4_2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75456f056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75456f056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cxnSp>
        <p:nvCxnSpPr>
          <p:cNvPr id="55" name="Google Shape;55;p1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56" name="Google Shape;56;p14"/>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7" name="Google Shape;57;p14"/>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9" name="Shape 59"/>
        <p:cNvGrpSpPr/>
        <p:nvPr/>
      </p:nvGrpSpPr>
      <p:grpSpPr>
        <a:xfrm>
          <a:off x="0" y="0"/>
          <a:ext cx="0" cy="0"/>
          <a:chOff x="0" y="0"/>
          <a:chExt cx="0" cy="0"/>
        </a:xfrm>
      </p:grpSpPr>
      <p:cxnSp>
        <p:nvCxnSpPr>
          <p:cNvPr id="60" name="Google Shape;60;p15"/>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61" name="Google Shape;61;p15"/>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2" name="Google Shape;6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 name="Google Shape;70;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1" name="Google Shape;71;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2" name="Google Shape;7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 name="Google Shape;7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8" name="Google Shape;78;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9" name="Google Shape;7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0" name="Shape 80"/>
        <p:cNvGrpSpPr/>
        <p:nvPr/>
      </p:nvGrpSpPr>
      <p:grpSpPr>
        <a:xfrm>
          <a:off x="0" y="0"/>
          <a:ext cx="0" cy="0"/>
          <a:chOff x="0" y="0"/>
          <a:chExt cx="0" cy="0"/>
        </a:xfrm>
      </p:grpSpPr>
      <p:sp>
        <p:nvSpPr>
          <p:cNvPr id="81" name="Google Shape;81;p20"/>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2" name="Google Shape;8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 name="Google Shape;85;p21"/>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86" name="Google Shape;86;p21"/>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7" name="Google Shape;87;p21"/>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8" name="Google Shape;88;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89" name="Google Shape;8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2"/>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92" name="Google Shape;9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3"/>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96" name="Google Shape;96;p23"/>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9.png"/><Relationship Id="rId11" Type="http://schemas.openxmlformats.org/officeDocument/2006/relationships/image" Target="../media/image2.png"/><Relationship Id="rId10" Type="http://schemas.openxmlformats.org/officeDocument/2006/relationships/image" Target="../media/image8.png"/><Relationship Id="rId9"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GB" sz="3720"/>
              <a:t>2.2. Large Language Model (LLM)</a:t>
            </a:r>
            <a:endParaRPr sz="37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729"/>
        </a:solidFill>
      </p:bgPr>
    </p:bg>
    <p:spTree>
      <p:nvGrpSpPr>
        <p:cNvPr id="108" name="Shape 108"/>
        <p:cNvGrpSpPr/>
        <p:nvPr/>
      </p:nvGrpSpPr>
      <p:grpSpPr>
        <a:xfrm>
          <a:off x="0" y="0"/>
          <a:ext cx="0" cy="0"/>
          <a:chOff x="0" y="0"/>
          <a:chExt cx="0" cy="0"/>
        </a:xfrm>
      </p:grpSpPr>
      <p:sp>
        <p:nvSpPr>
          <p:cNvPr id="109" name="Google Shape;109;p26"/>
          <p:cNvSpPr txBox="1"/>
          <p:nvPr/>
        </p:nvSpPr>
        <p:spPr>
          <a:xfrm>
            <a:off x="3503700" y="-33975"/>
            <a:ext cx="2136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lt1"/>
                </a:solidFill>
              </a:rPr>
              <a:t>Introduction to LLMs</a:t>
            </a:r>
            <a:endParaRPr b="1" sz="1500">
              <a:solidFill>
                <a:schemeClr val="lt1"/>
              </a:solidFill>
            </a:endParaRPr>
          </a:p>
        </p:txBody>
      </p:sp>
      <p:cxnSp>
        <p:nvCxnSpPr>
          <p:cNvPr id="110" name="Google Shape;110;p26"/>
          <p:cNvCxnSpPr/>
          <p:nvPr/>
        </p:nvCxnSpPr>
        <p:spPr>
          <a:xfrm>
            <a:off x="3596650" y="342900"/>
            <a:ext cx="1920300" cy="0"/>
          </a:xfrm>
          <a:prstGeom prst="straightConnector1">
            <a:avLst/>
          </a:prstGeom>
          <a:noFill/>
          <a:ln cap="flat" cmpd="sng" w="9525">
            <a:solidFill>
              <a:schemeClr val="dk2"/>
            </a:solidFill>
            <a:prstDash val="solid"/>
            <a:round/>
            <a:headEnd len="med" w="med" type="none"/>
            <a:tailEnd len="med" w="med" type="none"/>
          </a:ln>
        </p:spPr>
      </p:cxnSp>
      <p:sp>
        <p:nvSpPr>
          <p:cNvPr id="111" name="Google Shape;111;p26"/>
          <p:cNvSpPr txBox="1"/>
          <p:nvPr/>
        </p:nvSpPr>
        <p:spPr>
          <a:xfrm>
            <a:off x="1657050" y="605100"/>
            <a:ext cx="58299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GB">
                <a:solidFill>
                  <a:srgbClr val="FFFFFF"/>
                </a:solidFill>
                <a:latin typeface="Calibri"/>
                <a:ea typeface="Calibri"/>
                <a:cs typeface="Calibri"/>
                <a:sym typeface="Calibri"/>
              </a:rPr>
              <a:t>A Large Language Model (LLM) is a type of AI model trained to understand and generate human-like text.</a:t>
            </a:r>
            <a:endParaRPr b="1">
              <a:solidFill>
                <a:srgbClr val="FFFFFF"/>
              </a:solidFill>
              <a:latin typeface="Calibri"/>
              <a:ea typeface="Calibri"/>
              <a:cs typeface="Calibri"/>
              <a:sym typeface="Calibri"/>
            </a:endParaRPr>
          </a:p>
        </p:txBody>
      </p:sp>
      <p:grpSp>
        <p:nvGrpSpPr>
          <p:cNvPr id="112" name="Google Shape;112;p26"/>
          <p:cNvGrpSpPr/>
          <p:nvPr/>
        </p:nvGrpSpPr>
        <p:grpSpPr>
          <a:xfrm>
            <a:off x="395895" y="1653464"/>
            <a:ext cx="2090100" cy="2423065"/>
            <a:chOff x="114301" y="1661150"/>
            <a:chExt cx="2569901" cy="2979300"/>
          </a:xfrm>
        </p:grpSpPr>
        <p:sp>
          <p:nvSpPr>
            <p:cNvPr id="113" name="Google Shape;113;p26"/>
            <p:cNvSpPr/>
            <p:nvPr/>
          </p:nvSpPr>
          <p:spPr>
            <a:xfrm>
              <a:off x="533400" y="1661150"/>
              <a:ext cx="1745100" cy="2979300"/>
            </a:xfrm>
            <a:prstGeom prst="roundRect">
              <a:avLst>
                <a:gd fmla="val 16667" name="adj"/>
              </a:avLst>
            </a:prstGeom>
            <a:solidFill>
              <a:schemeClr val="lt2"/>
            </a:solidFill>
            <a:ln cap="flat" cmpd="sng" w="7750">
              <a:solidFill>
                <a:schemeClr val="dk2"/>
              </a:solidFill>
              <a:prstDash val="solid"/>
              <a:round/>
              <a:headEnd len="sm" w="sm" type="none"/>
              <a:tailEnd len="sm" w="sm" type="none"/>
            </a:ln>
          </p:spPr>
          <p:txBody>
            <a:bodyPr anchorCtr="0" anchor="ctr" bIns="74350" lIns="74350" spcFirstLastPara="1" rIns="74350" wrap="square" tIns="74350">
              <a:noAutofit/>
            </a:bodyPr>
            <a:lstStyle/>
            <a:p>
              <a:pPr indent="0" lvl="0" marL="0" rtl="0" algn="ctr">
                <a:spcBef>
                  <a:spcPts val="0"/>
                </a:spcBef>
                <a:spcAft>
                  <a:spcPts val="0"/>
                </a:spcAft>
                <a:buNone/>
              </a:pPr>
              <a:r>
                <a:t/>
              </a:r>
              <a:endParaRPr sz="1138">
                <a:latin typeface="Proxima Nova"/>
                <a:ea typeface="Proxima Nova"/>
                <a:cs typeface="Proxima Nova"/>
                <a:sym typeface="Proxima Nova"/>
              </a:endParaRPr>
            </a:p>
          </p:txBody>
        </p:sp>
        <p:pic>
          <p:nvPicPr>
            <p:cNvPr id="114" name="Google Shape;114;p26"/>
            <p:cNvPicPr preferRelativeResize="0"/>
            <p:nvPr/>
          </p:nvPicPr>
          <p:blipFill>
            <a:blip r:embed="rId3">
              <a:alphaModFix/>
            </a:blip>
            <a:stretch>
              <a:fillRect/>
            </a:stretch>
          </p:blipFill>
          <p:spPr>
            <a:xfrm>
              <a:off x="114301" y="1748400"/>
              <a:ext cx="2569901" cy="2703750"/>
            </a:xfrm>
            <a:prstGeom prst="rect">
              <a:avLst/>
            </a:prstGeom>
            <a:noFill/>
            <a:ln>
              <a:noFill/>
            </a:ln>
          </p:spPr>
        </p:pic>
      </p:grpSp>
      <p:sp>
        <p:nvSpPr>
          <p:cNvPr id="115" name="Google Shape;115;p26"/>
          <p:cNvSpPr txBox="1"/>
          <p:nvPr/>
        </p:nvSpPr>
        <p:spPr>
          <a:xfrm>
            <a:off x="480800" y="4171125"/>
            <a:ext cx="1920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lt1"/>
                </a:solidFill>
                <a:latin typeface="Proxima Nova"/>
                <a:ea typeface="Proxima Nova"/>
                <a:cs typeface="Proxima Nova"/>
                <a:sym typeface="Proxima Nova"/>
              </a:rPr>
              <a:t>Transformer Architecture</a:t>
            </a:r>
            <a:endParaRPr sz="1200">
              <a:solidFill>
                <a:schemeClr val="lt1"/>
              </a:solidFill>
              <a:latin typeface="Proxima Nova"/>
              <a:ea typeface="Proxima Nova"/>
              <a:cs typeface="Proxima Nova"/>
              <a:sym typeface="Proxima Nova"/>
            </a:endParaRPr>
          </a:p>
        </p:txBody>
      </p:sp>
      <p:sp>
        <p:nvSpPr>
          <p:cNvPr id="116" name="Google Shape;116;p26"/>
          <p:cNvSpPr/>
          <p:nvPr/>
        </p:nvSpPr>
        <p:spPr>
          <a:xfrm>
            <a:off x="3846912" y="1653464"/>
            <a:ext cx="1419290" cy="2423065"/>
          </a:xfrm>
          <a:prstGeom prst="roundRect">
            <a:avLst>
              <a:gd fmla="val 16667" name="adj"/>
            </a:avLst>
          </a:prstGeom>
          <a:solidFill>
            <a:schemeClr val="lt2"/>
          </a:solidFill>
          <a:ln cap="flat" cmpd="sng" w="7750">
            <a:solidFill>
              <a:schemeClr val="dk2"/>
            </a:solidFill>
            <a:prstDash val="solid"/>
            <a:round/>
            <a:headEnd len="sm" w="sm" type="none"/>
            <a:tailEnd len="sm" w="sm" type="none"/>
          </a:ln>
        </p:spPr>
        <p:txBody>
          <a:bodyPr anchorCtr="0" anchor="ctr" bIns="74350" lIns="74350" spcFirstLastPara="1" rIns="74350" wrap="square" tIns="74350">
            <a:noAutofit/>
          </a:bodyPr>
          <a:lstStyle/>
          <a:p>
            <a:pPr indent="0" lvl="0" marL="0" rtl="0" algn="ctr">
              <a:spcBef>
                <a:spcPts val="0"/>
              </a:spcBef>
              <a:spcAft>
                <a:spcPts val="0"/>
              </a:spcAft>
              <a:buNone/>
            </a:pPr>
            <a:r>
              <a:t/>
            </a:r>
            <a:endParaRPr sz="1138">
              <a:latin typeface="Proxima Nova"/>
              <a:ea typeface="Proxima Nova"/>
              <a:cs typeface="Proxima Nova"/>
              <a:sym typeface="Proxima Nova"/>
            </a:endParaRPr>
          </a:p>
        </p:txBody>
      </p:sp>
      <p:pic>
        <p:nvPicPr>
          <p:cNvPr id="117" name="Google Shape;117;p26"/>
          <p:cNvPicPr preferRelativeResize="0"/>
          <p:nvPr/>
        </p:nvPicPr>
        <p:blipFill>
          <a:blip r:embed="rId4">
            <a:alphaModFix/>
          </a:blip>
          <a:stretch>
            <a:fillRect/>
          </a:stretch>
        </p:blipFill>
        <p:spPr>
          <a:xfrm>
            <a:off x="3978310" y="1832200"/>
            <a:ext cx="363150" cy="369300"/>
          </a:xfrm>
          <a:prstGeom prst="rect">
            <a:avLst/>
          </a:prstGeom>
          <a:noFill/>
          <a:ln>
            <a:noFill/>
          </a:ln>
        </p:spPr>
      </p:pic>
      <p:sp>
        <p:nvSpPr>
          <p:cNvPr id="118" name="Google Shape;118;p26"/>
          <p:cNvSpPr txBox="1"/>
          <p:nvPr/>
        </p:nvSpPr>
        <p:spPr>
          <a:xfrm>
            <a:off x="4358413" y="1832200"/>
            <a:ext cx="647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rgbClr val="202729"/>
                </a:solidFill>
                <a:latin typeface="Proxima Nova"/>
                <a:ea typeface="Proxima Nova"/>
                <a:cs typeface="Proxima Nova"/>
                <a:sym typeface="Proxima Nova"/>
              </a:rPr>
              <a:t>GPT-5</a:t>
            </a:r>
            <a:endParaRPr sz="1200">
              <a:solidFill>
                <a:srgbClr val="202729"/>
              </a:solidFill>
              <a:latin typeface="Proxima Nova"/>
              <a:ea typeface="Proxima Nova"/>
              <a:cs typeface="Proxima Nova"/>
              <a:sym typeface="Proxima Nova"/>
            </a:endParaRPr>
          </a:p>
        </p:txBody>
      </p:sp>
      <p:pic>
        <p:nvPicPr>
          <p:cNvPr id="119" name="Google Shape;119;p26"/>
          <p:cNvPicPr preferRelativeResize="0"/>
          <p:nvPr/>
        </p:nvPicPr>
        <p:blipFill>
          <a:blip r:embed="rId5">
            <a:alphaModFix/>
          </a:blip>
          <a:stretch>
            <a:fillRect/>
          </a:stretch>
        </p:blipFill>
        <p:spPr>
          <a:xfrm>
            <a:off x="3959987" y="2387100"/>
            <a:ext cx="369301" cy="369301"/>
          </a:xfrm>
          <a:prstGeom prst="rect">
            <a:avLst/>
          </a:prstGeom>
          <a:noFill/>
          <a:ln>
            <a:noFill/>
          </a:ln>
        </p:spPr>
      </p:pic>
      <p:sp>
        <p:nvSpPr>
          <p:cNvPr id="120" name="Google Shape;120;p26"/>
          <p:cNvSpPr txBox="1"/>
          <p:nvPr/>
        </p:nvSpPr>
        <p:spPr>
          <a:xfrm>
            <a:off x="4337088" y="2387100"/>
            <a:ext cx="96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dk1"/>
                </a:solidFill>
                <a:latin typeface="Proxima Nova"/>
                <a:ea typeface="Proxima Nova"/>
                <a:cs typeface="Proxima Nova"/>
                <a:sym typeface="Proxima Nova"/>
              </a:rPr>
              <a:t>Gemini 2.5</a:t>
            </a:r>
            <a:endParaRPr sz="1200">
              <a:solidFill>
                <a:schemeClr val="dk1"/>
              </a:solidFill>
              <a:latin typeface="Proxima Nova"/>
              <a:ea typeface="Proxima Nova"/>
              <a:cs typeface="Proxima Nova"/>
              <a:sym typeface="Proxima Nova"/>
            </a:endParaRPr>
          </a:p>
        </p:txBody>
      </p:sp>
      <p:pic>
        <p:nvPicPr>
          <p:cNvPr id="121" name="Google Shape;121;p26"/>
          <p:cNvPicPr preferRelativeResize="0"/>
          <p:nvPr/>
        </p:nvPicPr>
        <p:blipFill>
          <a:blip r:embed="rId6">
            <a:alphaModFix/>
          </a:blip>
          <a:stretch>
            <a:fillRect/>
          </a:stretch>
        </p:blipFill>
        <p:spPr>
          <a:xfrm>
            <a:off x="3975238" y="2942000"/>
            <a:ext cx="369300" cy="369300"/>
          </a:xfrm>
          <a:prstGeom prst="rect">
            <a:avLst/>
          </a:prstGeom>
          <a:noFill/>
          <a:ln>
            <a:noFill/>
          </a:ln>
        </p:spPr>
      </p:pic>
      <p:sp>
        <p:nvSpPr>
          <p:cNvPr id="122" name="Google Shape;122;p26"/>
          <p:cNvSpPr txBox="1"/>
          <p:nvPr/>
        </p:nvSpPr>
        <p:spPr>
          <a:xfrm>
            <a:off x="4358413" y="2942000"/>
            <a:ext cx="755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dk1"/>
                </a:solidFill>
                <a:latin typeface="Proxima Nova"/>
                <a:ea typeface="Proxima Nova"/>
                <a:cs typeface="Proxima Nova"/>
                <a:sym typeface="Proxima Nova"/>
              </a:rPr>
              <a:t>Llama 4</a:t>
            </a:r>
            <a:endParaRPr sz="1200">
              <a:solidFill>
                <a:schemeClr val="dk1"/>
              </a:solidFill>
              <a:latin typeface="Proxima Nova"/>
              <a:ea typeface="Proxima Nova"/>
              <a:cs typeface="Proxima Nova"/>
              <a:sym typeface="Proxima Nova"/>
            </a:endParaRPr>
          </a:p>
        </p:txBody>
      </p:sp>
      <p:pic>
        <p:nvPicPr>
          <p:cNvPr id="123" name="Google Shape;123;p26"/>
          <p:cNvPicPr preferRelativeResize="0"/>
          <p:nvPr/>
        </p:nvPicPr>
        <p:blipFill>
          <a:blip r:embed="rId7">
            <a:alphaModFix/>
          </a:blip>
          <a:stretch>
            <a:fillRect/>
          </a:stretch>
        </p:blipFill>
        <p:spPr>
          <a:xfrm>
            <a:off x="3975239" y="3496900"/>
            <a:ext cx="369299" cy="369299"/>
          </a:xfrm>
          <a:prstGeom prst="rect">
            <a:avLst/>
          </a:prstGeom>
          <a:noFill/>
          <a:ln>
            <a:noFill/>
          </a:ln>
        </p:spPr>
      </p:pic>
      <p:sp>
        <p:nvSpPr>
          <p:cNvPr id="124" name="Google Shape;124;p26"/>
          <p:cNvSpPr txBox="1"/>
          <p:nvPr/>
        </p:nvSpPr>
        <p:spPr>
          <a:xfrm>
            <a:off x="4358413" y="3496900"/>
            <a:ext cx="96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dk1"/>
                </a:solidFill>
                <a:latin typeface="Proxima Nova"/>
                <a:ea typeface="Proxima Nova"/>
                <a:cs typeface="Proxima Nova"/>
                <a:sym typeface="Proxima Nova"/>
              </a:rPr>
              <a:t>DeepSeek</a:t>
            </a:r>
            <a:endParaRPr sz="1200">
              <a:solidFill>
                <a:schemeClr val="dk1"/>
              </a:solidFill>
              <a:latin typeface="Proxima Nova"/>
              <a:ea typeface="Proxima Nova"/>
              <a:cs typeface="Proxima Nova"/>
              <a:sym typeface="Proxima Nova"/>
            </a:endParaRPr>
          </a:p>
        </p:txBody>
      </p:sp>
      <p:sp>
        <p:nvSpPr>
          <p:cNvPr id="125" name="Google Shape;125;p26"/>
          <p:cNvSpPr txBox="1"/>
          <p:nvPr/>
        </p:nvSpPr>
        <p:spPr>
          <a:xfrm>
            <a:off x="3938563" y="4171125"/>
            <a:ext cx="1236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lt1"/>
                </a:solidFill>
                <a:latin typeface="Proxima Nova"/>
                <a:ea typeface="Proxima Nova"/>
                <a:cs typeface="Proxima Nova"/>
                <a:sym typeface="Proxima Nova"/>
              </a:rPr>
              <a:t>Popular LLMs</a:t>
            </a:r>
            <a:endParaRPr sz="1200">
              <a:solidFill>
                <a:schemeClr val="lt1"/>
              </a:solidFill>
              <a:latin typeface="Proxima Nova"/>
              <a:ea typeface="Proxima Nova"/>
              <a:cs typeface="Proxima Nova"/>
              <a:sym typeface="Proxima Nova"/>
            </a:endParaRPr>
          </a:p>
        </p:txBody>
      </p:sp>
      <p:sp>
        <p:nvSpPr>
          <p:cNvPr id="126" name="Google Shape;126;p26"/>
          <p:cNvSpPr/>
          <p:nvPr/>
        </p:nvSpPr>
        <p:spPr>
          <a:xfrm>
            <a:off x="6658012" y="1615364"/>
            <a:ext cx="1419300" cy="2423100"/>
          </a:xfrm>
          <a:prstGeom prst="roundRect">
            <a:avLst>
              <a:gd fmla="val 16667" name="adj"/>
            </a:avLst>
          </a:prstGeom>
          <a:solidFill>
            <a:schemeClr val="lt2"/>
          </a:solidFill>
          <a:ln cap="flat" cmpd="sng" w="7750">
            <a:solidFill>
              <a:schemeClr val="dk2"/>
            </a:solidFill>
            <a:prstDash val="solid"/>
            <a:round/>
            <a:headEnd len="sm" w="sm" type="none"/>
            <a:tailEnd len="sm" w="sm" type="none"/>
          </a:ln>
        </p:spPr>
        <p:txBody>
          <a:bodyPr anchorCtr="0" anchor="ctr" bIns="74350" lIns="74350" spcFirstLastPara="1" rIns="74350" wrap="square" tIns="74350">
            <a:noAutofit/>
          </a:bodyPr>
          <a:lstStyle/>
          <a:p>
            <a:pPr indent="0" lvl="0" marL="0" rtl="0" algn="ctr">
              <a:spcBef>
                <a:spcPts val="0"/>
              </a:spcBef>
              <a:spcAft>
                <a:spcPts val="0"/>
              </a:spcAft>
              <a:buNone/>
            </a:pPr>
            <a:r>
              <a:t/>
            </a:r>
            <a:endParaRPr sz="1138">
              <a:latin typeface="Proxima Nova"/>
              <a:ea typeface="Proxima Nova"/>
              <a:cs typeface="Proxima Nova"/>
              <a:sym typeface="Proxima Nova"/>
            </a:endParaRPr>
          </a:p>
        </p:txBody>
      </p:sp>
      <p:sp>
        <p:nvSpPr>
          <p:cNvPr id="127" name="Google Shape;127;p26"/>
          <p:cNvSpPr txBox="1"/>
          <p:nvPr/>
        </p:nvSpPr>
        <p:spPr>
          <a:xfrm>
            <a:off x="7169525" y="1794100"/>
            <a:ext cx="861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rgbClr val="202729"/>
                </a:solidFill>
                <a:latin typeface="Proxima Nova"/>
                <a:ea typeface="Proxima Nova"/>
                <a:cs typeface="Proxima Nova"/>
                <a:sym typeface="Proxima Nova"/>
              </a:rPr>
              <a:t>Chatbots</a:t>
            </a:r>
            <a:endParaRPr sz="1200">
              <a:solidFill>
                <a:srgbClr val="202729"/>
              </a:solidFill>
              <a:latin typeface="Proxima Nova"/>
              <a:ea typeface="Proxima Nova"/>
              <a:cs typeface="Proxima Nova"/>
              <a:sym typeface="Proxima Nova"/>
            </a:endParaRPr>
          </a:p>
        </p:txBody>
      </p:sp>
      <p:sp>
        <p:nvSpPr>
          <p:cNvPr id="128" name="Google Shape;128;p26"/>
          <p:cNvSpPr txBox="1"/>
          <p:nvPr/>
        </p:nvSpPr>
        <p:spPr>
          <a:xfrm>
            <a:off x="7148188" y="2349000"/>
            <a:ext cx="96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dk1"/>
                </a:solidFill>
                <a:latin typeface="Proxima Nova"/>
                <a:ea typeface="Proxima Nova"/>
                <a:cs typeface="Proxima Nova"/>
                <a:sym typeface="Proxima Nova"/>
              </a:rPr>
              <a:t>Doc QA</a:t>
            </a:r>
            <a:endParaRPr sz="1200">
              <a:solidFill>
                <a:schemeClr val="dk1"/>
              </a:solidFill>
              <a:latin typeface="Proxima Nova"/>
              <a:ea typeface="Proxima Nova"/>
              <a:cs typeface="Proxima Nova"/>
              <a:sym typeface="Proxima Nova"/>
            </a:endParaRPr>
          </a:p>
        </p:txBody>
      </p:sp>
      <p:sp>
        <p:nvSpPr>
          <p:cNvPr id="129" name="Google Shape;129;p26"/>
          <p:cNvSpPr txBox="1"/>
          <p:nvPr/>
        </p:nvSpPr>
        <p:spPr>
          <a:xfrm>
            <a:off x="7169513" y="2903900"/>
            <a:ext cx="755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dk1"/>
                </a:solidFill>
                <a:latin typeface="Proxima Nova"/>
                <a:ea typeface="Proxima Nova"/>
                <a:cs typeface="Proxima Nova"/>
                <a:sym typeface="Proxima Nova"/>
              </a:rPr>
              <a:t>Coding</a:t>
            </a:r>
            <a:endParaRPr sz="1200">
              <a:solidFill>
                <a:schemeClr val="dk1"/>
              </a:solidFill>
              <a:latin typeface="Proxima Nova"/>
              <a:ea typeface="Proxima Nova"/>
              <a:cs typeface="Proxima Nova"/>
              <a:sym typeface="Proxima Nova"/>
            </a:endParaRPr>
          </a:p>
        </p:txBody>
      </p:sp>
      <p:sp>
        <p:nvSpPr>
          <p:cNvPr id="130" name="Google Shape;130;p26"/>
          <p:cNvSpPr txBox="1"/>
          <p:nvPr/>
        </p:nvSpPr>
        <p:spPr>
          <a:xfrm>
            <a:off x="7190838" y="3458800"/>
            <a:ext cx="96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dk1"/>
                </a:solidFill>
                <a:latin typeface="Proxima Nova"/>
                <a:ea typeface="Proxima Nova"/>
                <a:cs typeface="Proxima Nova"/>
                <a:sym typeface="Proxima Nova"/>
              </a:rPr>
              <a:t>Agents</a:t>
            </a:r>
            <a:endParaRPr sz="1200">
              <a:solidFill>
                <a:schemeClr val="dk1"/>
              </a:solidFill>
              <a:latin typeface="Proxima Nova"/>
              <a:ea typeface="Proxima Nova"/>
              <a:cs typeface="Proxima Nova"/>
              <a:sym typeface="Proxima Nova"/>
            </a:endParaRPr>
          </a:p>
        </p:txBody>
      </p:sp>
      <p:sp>
        <p:nvSpPr>
          <p:cNvPr id="131" name="Google Shape;131;p26"/>
          <p:cNvSpPr txBox="1"/>
          <p:nvPr/>
        </p:nvSpPr>
        <p:spPr>
          <a:xfrm>
            <a:off x="6834099" y="4171125"/>
            <a:ext cx="1067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chemeClr val="lt1"/>
                </a:solidFill>
                <a:latin typeface="Proxima Nova"/>
                <a:ea typeface="Proxima Nova"/>
                <a:cs typeface="Proxima Nova"/>
                <a:sym typeface="Proxima Nova"/>
              </a:rPr>
              <a:t>Applications</a:t>
            </a:r>
            <a:endParaRPr sz="1200">
              <a:solidFill>
                <a:schemeClr val="lt1"/>
              </a:solidFill>
              <a:latin typeface="Proxima Nova"/>
              <a:ea typeface="Proxima Nova"/>
              <a:cs typeface="Proxima Nova"/>
              <a:sym typeface="Proxima Nova"/>
            </a:endParaRPr>
          </a:p>
        </p:txBody>
      </p:sp>
      <p:pic>
        <p:nvPicPr>
          <p:cNvPr id="132" name="Google Shape;132;p26"/>
          <p:cNvPicPr preferRelativeResize="0"/>
          <p:nvPr/>
        </p:nvPicPr>
        <p:blipFill>
          <a:blip r:embed="rId8">
            <a:alphaModFix/>
          </a:blip>
          <a:stretch>
            <a:fillRect/>
          </a:stretch>
        </p:blipFill>
        <p:spPr>
          <a:xfrm>
            <a:off x="6815712" y="1838725"/>
            <a:ext cx="280050" cy="280050"/>
          </a:xfrm>
          <a:prstGeom prst="rect">
            <a:avLst/>
          </a:prstGeom>
          <a:noFill/>
          <a:ln>
            <a:noFill/>
          </a:ln>
        </p:spPr>
      </p:pic>
      <p:pic>
        <p:nvPicPr>
          <p:cNvPr id="133" name="Google Shape;133;p26"/>
          <p:cNvPicPr preferRelativeResize="0"/>
          <p:nvPr/>
        </p:nvPicPr>
        <p:blipFill>
          <a:blip r:embed="rId9">
            <a:alphaModFix/>
          </a:blip>
          <a:stretch>
            <a:fillRect/>
          </a:stretch>
        </p:blipFill>
        <p:spPr>
          <a:xfrm>
            <a:off x="6789975" y="2345600"/>
            <a:ext cx="331475" cy="331475"/>
          </a:xfrm>
          <a:prstGeom prst="rect">
            <a:avLst/>
          </a:prstGeom>
          <a:noFill/>
          <a:ln>
            <a:noFill/>
          </a:ln>
        </p:spPr>
      </p:pic>
      <p:pic>
        <p:nvPicPr>
          <p:cNvPr id="134" name="Google Shape;134;p26"/>
          <p:cNvPicPr preferRelativeResize="0"/>
          <p:nvPr/>
        </p:nvPicPr>
        <p:blipFill>
          <a:blip r:embed="rId10">
            <a:alphaModFix/>
          </a:blip>
          <a:stretch>
            <a:fillRect/>
          </a:stretch>
        </p:blipFill>
        <p:spPr>
          <a:xfrm>
            <a:off x="6786351" y="2903901"/>
            <a:ext cx="369301" cy="369301"/>
          </a:xfrm>
          <a:prstGeom prst="rect">
            <a:avLst/>
          </a:prstGeom>
          <a:noFill/>
          <a:ln>
            <a:noFill/>
          </a:ln>
        </p:spPr>
      </p:pic>
      <p:pic>
        <p:nvPicPr>
          <p:cNvPr id="135" name="Google Shape;135;p26"/>
          <p:cNvPicPr preferRelativeResize="0"/>
          <p:nvPr/>
        </p:nvPicPr>
        <p:blipFill>
          <a:blip r:embed="rId11">
            <a:alphaModFix/>
          </a:blip>
          <a:stretch>
            <a:fillRect/>
          </a:stretch>
        </p:blipFill>
        <p:spPr>
          <a:xfrm>
            <a:off x="6805263" y="3500025"/>
            <a:ext cx="331474" cy="3314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729"/>
        </a:solidFill>
      </p:bgPr>
    </p:bg>
    <p:spTree>
      <p:nvGrpSpPr>
        <p:cNvPr id="139" name="Shape 139"/>
        <p:cNvGrpSpPr/>
        <p:nvPr/>
      </p:nvGrpSpPr>
      <p:grpSpPr>
        <a:xfrm>
          <a:off x="0" y="0"/>
          <a:ext cx="0" cy="0"/>
          <a:chOff x="0" y="0"/>
          <a:chExt cx="0" cy="0"/>
        </a:xfrm>
      </p:grpSpPr>
      <p:sp>
        <p:nvSpPr>
          <p:cNvPr id="140" name="Google Shape;140;p27"/>
          <p:cNvSpPr txBox="1"/>
          <p:nvPr/>
        </p:nvSpPr>
        <p:spPr>
          <a:xfrm>
            <a:off x="3369750" y="-33975"/>
            <a:ext cx="2404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lt1"/>
                </a:solidFill>
              </a:rPr>
              <a:t>What makes it “Large”?</a:t>
            </a:r>
            <a:endParaRPr b="1" sz="1500">
              <a:solidFill>
                <a:schemeClr val="lt1"/>
              </a:solidFill>
            </a:endParaRPr>
          </a:p>
        </p:txBody>
      </p:sp>
      <p:cxnSp>
        <p:nvCxnSpPr>
          <p:cNvPr id="141" name="Google Shape;141;p27"/>
          <p:cNvCxnSpPr/>
          <p:nvPr/>
        </p:nvCxnSpPr>
        <p:spPr>
          <a:xfrm>
            <a:off x="3486150" y="350525"/>
            <a:ext cx="2106900" cy="0"/>
          </a:xfrm>
          <a:prstGeom prst="straightConnector1">
            <a:avLst/>
          </a:prstGeom>
          <a:noFill/>
          <a:ln cap="flat" cmpd="sng" w="9525">
            <a:solidFill>
              <a:schemeClr val="dk2"/>
            </a:solidFill>
            <a:prstDash val="solid"/>
            <a:round/>
            <a:headEnd len="med" w="med" type="none"/>
            <a:tailEnd len="med" w="med" type="none"/>
          </a:ln>
        </p:spPr>
      </p:cxnSp>
      <p:grpSp>
        <p:nvGrpSpPr>
          <p:cNvPr id="142" name="Google Shape;142;p27"/>
          <p:cNvGrpSpPr/>
          <p:nvPr/>
        </p:nvGrpSpPr>
        <p:grpSpPr>
          <a:xfrm>
            <a:off x="2800412" y="1158250"/>
            <a:ext cx="3543175" cy="952500"/>
            <a:chOff x="2278375" y="1379225"/>
            <a:chExt cx="3543175" cy="952500"/>
          </a:xfrm>
        </p:grpSpPr>
        <p:sp>
          <p:nvSpPr>
            <p:cNvPr id="143" name="Google Shape;143;p27"/>
            <p:cNvSpPr txBox="1"/>
            <p:nvPr/>
          </p:nvSpPr>
          <p:spPr>
            <a:xfrm>
              <a:off x="2278375" y="1379225"/>
              <a:ext cx="26478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7200">
                  <a:solidFill>
                    <a:schemeClr val="lt2"/>
                  </a:solidFill>
                  <a:latin typeface="Proxima Nova"/>
                  <a:ea typeface="Proxima Nova"/>
                  <a:cs typeface="Proxima Nova"/>
                  <a:sym typeface="Proxima Nova"/>
                </a:rPr>
                <a:t>175B</a:t>
              </a:r>
              <a:endParaRPr b="1" sz="7200">
                <a:solidFill>
                  <a:schemeClr val="lt2"/>
                </a:solidFill>
                <a:latin typeface="Proxima Nova"/>
                <a:ea typeface="Proxima Nova"/>
                <a:cs typeface="Proxima Nova"/>
                <a:sym typeface="Proxima Nova"/>
              </a:endParaRPr>
            </a:p>
          </p:txBody>
        </p:sp>
        <p:sp>
          <p:nvSpPr>
            <p:cNvPr id="144" name="Google Shape;144;p27"/>
            <p:cNvSpPr txBox="1"/>
            <p:nvPr/>
          </p:nvSpPr>
          <p:spPr>
            <a:xfrm>
              <a:off x="4388151" y="1624625"/>
              <a:ext cx="143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chemeClr val="lt1"/>
                  </a:solidFill>
                  <a:latin typeface="Proxima Nova"/>
                  <a:ea typeface="Proxima Nova"/>
                  <a:cs typeface="Proxima Nova"/>
                  <a:sym typeface="Proxima Nova"/>
                </a:rPr>
                <a:t>Parameters</a:t>
              </a:r>
              <a:endParaRPr sz="1800">
                <a:solidFill>
                  <a:schemeClr val="lt1"/>
                </a:solidFill>
                <a:latin typeface="Proxima Nova"/>
                <a:ea typeface="Proxima Nova"/>
                <a:cs typeface="Proxima Nova"/>
                <a:sym typeface="Proxima Nova"/>
              </a:endParaRPr>
            </a:p>
          </p:txBody>
        </p:sp>
      </p:grpSp>
      <p:sp>
        <p:nvSpPr>
          <p:cNvPr id="145" name="Google Shape;145;p27"/>
          <p:cNvSpPr txBox="1"/>
          <p:nvPr/>
        </p:nvSpPr>
        <p:spPr>
          <a:xfrm>
            <a:off x="3805654" y="2631900"/>
            <a:ext cx="1532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solidFill>
                  <a:srgbClr val="FFD966"/>
                </a:solidFill>
                <a:latin typeface="Proxima Nova"/>
                <a:ea typeface="Proxima Nova"/>
                <a:cs typeface="Proxima Nova"/>
                <a:sym typeface="Proxima Nova"/>
              </a:rPr>
              <a:t>Scale &amp; Complexity</a:t>
            </a:r>
            <a:endParaRPr sz="1200">
              <a:solidFill>
                <a:srgbClr val="FFD966"/>
              </a:solidFill>
              <a:latin typeface="Proxima Nova"/>
              <a:ea typeface="Proxima Nova"/>
              <a:cs typeface="Proxima Nova"/>
              <a:sym typeface="Proxima Nova"/>
            </a:endParaRPr>
          </a:p>
        </p:txBody>
      </p:sp>
      <p:sp>
        <p:nvSpPr>
          <p:cNvPr id="146" name="Google Shape;146;p27"/>
          <p:cNvSpPr txBox="1"/>
          <p:nvPr/>
        </p:nvSpPr>
        <p:spPr>
          <a:xfrm>
            <a:off x="1972050" y="3102925"/>
            <a:ext cx="51999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200">
                <a:solidFill>
                  <a:schemeClr val="lt1"/>
                </a:solidFill>
                <a:latin typeface="Proxima Nova"/>
                <a:ea typeface="Proxima Nova"/>
                <a:cs typeface="Proxima Nova"/>
                <a:sym typeface="Proxima Nova"/>
              </a:rPr>
              <a:t>GPT-3 has 175 billion parameters, while newer models like GPT-4 &amp; GPT-5 likely exceed this. More parameters enable better understanding but require significantly more computational resources.</a:t>
            </a:r>
            <a:endParaRPr b="1"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b="1" sz="1200">
              <a:solidFill>
                <a:schemeClr val="lt1"/>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729"/>
        </a:solidFill>
      </p:bgPr>
    </p:bg>
    <p:spTree>
      <p:nvGrpSpPr>
        <p:cNvPr id="150" name="Shape 150"/>
        <p:cNvGrpSpPr/>
        <p:nvPr/>
      </p:nvGrpSpPr>
      <p:grpSpPr>
        <a:xfrm>
          <a:off x="0" y="0"/>
          <a:ext cx="0" cy="0"/>
          <a:chOff x="0" y="0"/>
          <a:chExt cx="0" cy="0"/>
        </a:xfrm>
      </p:grpSpPr>
      <p:sp>
        <p:nvSpPr>
          <p:cNvPr id="151" name="Google Shape;151;p28"/>
          <p:cNvSpPr txBox="1"/>
          <p:nvPr/>
        </p:nvSpPr>
        <p:spPr>
          <a:xfrm>
            <a:off x="3605100" y="-33975"/>
            <a:ext cx="1933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lt1"/>
                </a:solidFill>
              </a:rPr>
              <a:t>The LLM Workflow</a:t>
            </a:r>
            <a:endParaRPr b="1" sz="1500">
              <a:solidFill>
                <a:schemeClr val="lt1"/>
              </a:solidFill>
            </a:endParaRPr>
          </a:p>
        </p:txBody>
      </p:sp>
      <p:cxnSp>
        <p:nvCxnSpPr>
          <p:cNvPr id="152" name="Google Shape;152;p28"/>
          <p:cNvCxnSpPr/>
          <p:nvPr/>
        </p:nvCxnSpPr>
        <p:spPr>
          <a:xfrm>
            <a:off x="3726175" y="365750"/>
            <a:ext cx="1661100" cy="0"/>
          </a:xfrm>
          <a:prstGeom prst="straightConnector1">
            <a:avLst/>
          </a:prstGeom>
          <a:noFill/>
          <a:ln cap="flat" cmpd="sng" w="9525">
            <a:solidFill>
              <a:schemeClr val="dk2"/>
            </a:solidFill>
            <a:prstDash val="solid"/>
            <a:round/>
            <a:headEnd len="med" w="med" type="none"/>
            <a:tailEnd len="med" w="med" type="none"/>
          </a:ln>
        </p:spPr>
      </p:cxnSp>
      <p:grpSp>
        <p:nvGrpSpPr>
          <p:cNvPr id="153" name="Google Shape;153;p28"/>
          <p:cNvGrpSpPr/>
          <p:nvPr/>
        </p:nvGrpSpPr>
        <p:grpSpPr>
          <a:xfrm>
            <a:off x="762263" y="1258925"/>
            <a:ext cx="3479522" cy="672300"/>
            <a:chOff x="699938" y="1258925"/>
            <a:chExt cx="3479522" cy="672300"/>
          </a:xfrm>
        </p:grpSpPr>
        <p:sp>
          <p:nvSpPr>
            <p:cNvPr id="154" name="Google Shape;154;p28"/>
            <p:cNvSpPr/>
            <p:nvPr/>
          </p:nvSpPr>
          <p:spPr>
            <a:xfrm>
              <a:off x="699938" y="1258925"/>
              <a:ext cx="2683500" cy="633300"/>
            </a:xfrm>
            <a:prstGeom prst="roundRect">
              <a:avLst>
                <a:gd fmla="val 16667" name="adj"/>
              </a:avLst>
            </a:prstGeom>
            <a:solidFill>
              <a:schemeClr val="lt2"/>
            </a:solidFill>
            <a:ln cap="flat" cmpd="sng" w="8900">
              <a:solidFill>
                <a:schemeClr val="dk2"/>
              </a:solidFill>
              <a:prstDash val="solid"/>
              <a:round/>
              <a:headEnd len="sm" w="sm" type="none"/>
              <a:tailEnd len="sm" w="sm" type="none"/>
            </a:ln>
          </p:spPr>
          <p:txBody>
            <a:bodyPr anchorCtr="0" anchor="ctr" bIns="85350" lIns="85350" spcFirstLastPara="1" rIns="85350" wrap="square" tIns="85350">
              <a:noAutofit/>
            </a:bodyPr>
            <a:lstStyle/>
            <a:p>
              <a:pPr indent="0" lvl="0" marL="0" rtl="0" algn="l">
                <a:spcBef>
                  <a:spcPts val="0"/>
                </a:spcBef>
                <a:spcAft>
                  <a:spcPts val="0"/>
                </a:spcAft>
                <a:buNone/>
              </a:pPr>
              <a:r>
                <a:t/>
              </a:r>
              <a:endParaRPr sz="1306">
                <a:solidFill>
                  <a:schemeClr val="lt1"/>
                </a:solidFill>
                <a:latin typeface="Proxima Nova"/>
                <a:ea typeface="Proxima Nova"/>
                <a:cs typeface="Proxima Nova"/>
                <a:sym typeface="Proxima Nova"/>
              </a:endParaRPr>
            </a:p>
          </p:txBody>
        </p:sp>
        <p:sp>
          <p:nvSpPr>
            <p:cNvPr id="155" name="Google Shape;155;p28"/>
            <p:cNvSpPr/>
            <p:nvPr/>
          </p:nvSpPr>
          <p:spPr>
            <a:xfrm>
              <a:off x="765459" y="1258925"/>
              <a:ext cx="3414000" cy="633300"/>
            </a:xfrm>
            <a:prstGeom prst="roundRect">
              <a:avLst>
                <a:gd fmla="val 16667" name="adj"/>
              </a:avLst>
            </a:prstGeom>
            <a:solidFill>
              <a:srgbClr val="202729"/>
            </a:solidFill>
            <a:ln cap="flat" cmpd="sng" w="8900">
              <a:solidFill>
                <a:schemeClr val="dk2"/>
              </a:solidFill>
              <a:prstDash val="solid"/>
              <a:round/>
              <a:headEnd len="sm" w="sm" type="none"/>
              <a:tailEnd len="sm" w="sm" type="none"/>
            </a:ln>
          </p:spPr>
          <p:txBody>
            <a:bodyPr anchorCtr="0" anchor="ctr" bIns="85350" lIns="85350" spcFirstLastPara="1" rIns="85350" wrap="square" tIns="85350">
              <a:noAutofit/>
            </a:bodyPr>
            <a:lstStyle/>
            <a:p>
              <a:pPr indent="0" lvl="0" marL="0" rtl="0" algn="ctr">
                <a:spcBef>
                  <a:spcPts val="0"/>
                </a:spcBef>
                <a:spcAft>
                  <a:spcPts val="0"/>
                </a:spcAft>
                <a:buNone/>
              </a:pPr>
              <a:r>
                <a:t/>
              </a:r>
              <a:endParaRPr sz="1306">
                <a:latin typeface="Proxima Nova"/>
                <a:ea typeface="Proxima Nova"/>
                <a:cs typeface="Proxima Nova"/>
                <a:sym typeface="Proxima Nova"/>
              </a:endParaRPr>
            </a:p>
          </p:txBody>
        </p:sp>
        <p:sp>
          <p:nvSpPr>
            <p:cNvPr id="156" name="Google Shape;156;p28"/>
            <p:cNvSpPr txBox="1"/>
            <p:nvPr/>
          </p:nvSpPr>
          <p:spPr>
            <a:xfrm>
              <a:off x="784988" y="1258925"/>
              <a:ext cx="1120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Calibri"/>
                  <a:ea typeface="Calibri"/>
                  <a:cs typeface="Calibri"/>
                  <a:sym typeface="Calibri"/>
                </a:rPr>
                <a:t>Input Text</a:t>
              </a:r>
              <a:endParaRPr b="1">
                <a:solidFill>
                  <a:schemeClr val="lt1"/>
                </a:solidFill>
                <a:latin typeface="Calibri"/>
                <a:ea typeface="Calibri"/>
                <a:cs typeface="Calibri"/>
                <a:sym typeface="Calibri"/>
              </a:endParaRPr>
            </a:p>
          </p:txBody>
        </p:sp>
        <p:sp>
          <p:nvSpPr>
            <p:cNvPr id="157" name="Google Shape;157;p28"/>
            <p:cNvSpPr txBox="1"/>
            <p:nvPr/>
          </p:nvSpPr>
          <p:spPr>
            <a:xfrm>
              <a:off x="784988" y="1515725"/>
              <a:ext cx="32949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lt1"/>
                  </a:solidFill>
                  <a:latin typeface="Calibri"/>
                  <a:ea typeface="Calibri"/>
                  <a:cs typeface="Calibri"/>
                  <a:sym typeface="Calibri"/>
                </a:rPr>
                <a:t>Raw text enters the system for processing</a:t>
              </a:r>
              <a:endParaRPr b="1" sz="1200">
                <a:solidFill>
                  <a:schemeClr val="lt1"/>
                </a:solidFill>
                <a:latin typeface="Calibri"/>
                <a:ea typeface="Calibri"/>
                <a:cs typeface="Calibri"/>
                <a:sym typeface="Calibri"/>
              </a:endParaRPr>
            </a:p>
          </p:txBody>
        </p:sp>
      </p:grpSp>
      <p:grpSp>
        <p:nvGrpSpPr>
          <p:cNvPr id="158" name="Google Shape;158;p28"/>
          <p:cNvGrpSpPr/>
          <p:nvPr/>
        </p:nvGrpSpPr>
        <p:grpSpPr>
          <a:xfrm>
            <a:off x="762263" y="2479150"/>
            <a:ext cx="3479522" cy="672300"/>
            <a:chOff x="707188" y="2457100"/>
            <a:chExt cx="3479522" cy="672300"/>
          </a:xfrm>
        </p:grpSpPr>
        <p:sp>
          <p:nvSpPr>
            <p:cNvPr id="159" name="Google Shape;159;p28"/>
            <p:cNvSpPr/>
            <p:nvPr/>
          </p:nvSpPr>
          <p:spPr>
            <a:xfrm>
              <a:off x="707188" y="2457100"/>
              <a:ext cx="2683500" cy="633300"/>
            </a:xfrm>
            <a:prstGeom prst="roundRect">
              <a:avLst>
                <a:gd fmla="val 16667" name="adj"/>
              </a:avLst>
            </a:prstGeom>
            <a:solidFill>
              <a:schemeClr val="lt2"/>
            </a:solidFill>
            <a:ln cap="flat" cmpd="sng" w="8900">
              <a:solidFill>
                <a:schemeClr val="dk2"/>
              </a:solidFill>
              <a:prstDash val="solid"/>
              <a:round/>
              <a:headEnd len="sm" w="sm" type="none"/>
              <a:tailEnd len="sm" w="sm" type="none"/>
            </a:ln>
          </p:spPr>
          <p:txBody>
            <a:bodyPr anchorCtr="0" anchor="ctr" bIns="85350" lIns="85350" spcFirstLastPara="1" rIns="85350" wrap="square" tIns="85350">
              <a:noAutofit/>
            </a:bodyPr>
            <a:lstStyle/>
            <a:p>
              <a:pPr indent="0" lvl="0" marL="0" rtl="0" algn="l">
                <a:spcBef>
                  <a:spcPts val="0"/>
                </a:spcBef>
                <a:spcAft>
                  <a:spcPts val="0"/>
                </a:spcAft>
                <a:buNone/>
              </a:pPr>
              <a:r>
                <a:t/>
              </a:r>
              <a:endParaRPr sz="1306">
                <a:solidFill>
                  <a:schemeClr val="lt1"/>
                </a:solidFill>
                <a:latin typeface="Proxima Nova"/>
                <a:ea typeface="Proxima Nova"/>
                <a:cs typeface="Proxima Nova"/>
                <a:sym typeface="Proxima Nova"/>
              </a:endParaRPr>
            </a:p>
          </p:txBody>
        </p:sp>
        <p:sp>
          <p:nvSpPr>
            <p:cNvPr id="160" name="Google Shape;160;p28"/>
            <p:cNvSpPr/>
            <p:nvPr/>
          </p:nvSpPr>
          <p:spPr>
            <a:xfrm>
              <a:off x="772709" y="2457100"/>
              <a:ext cx="3414000" cy="633300"/>
            </a:xfrm>
            <a:prstGeom prst="roundRect">
              <a:avLst>
                <a:gd fmla="val 16667" name="adj"/>
              </a:avLst>
            </a:prstGeom>
            <a:solidFill>
              <a:srgbClr val="202729"/>
            </a:solidFill>
            <a:ln cap="flat" cmpd="sng" w="8900">
              <a:solidFill>
                <a:schemeClr val="dk2"/>
              </a:solidFill>
              <a:prstDash val="solid"/>
              <a:round/>
              <a:headEnd len="sm" w="sm" type="none"/>
              <a:tailEnd len="sm" w="sm" type="none"/>
            </a:ln>
          </p:spPr>
          <p:txBody>
            <a:bodyPr anchorCtr="0" anchor="ctr" bIns="85350" lIns="85350" spcFirstLastPara="1" rIns="85350" wrap="square" tIns="85350">
              <a:noAutofit/>
            </a:bodyPr>
            <a:lstStyle/>
            <a:p>
              <a:pPr indent="0" lvl="0" marL="0" rtl="0" algn="ctr">
                <a:spcBef>
                  <a:spcPts val="0"/>
                </a:spcBef>
                <a:spcAft>
                  <a:spcPts val="0"/>
                </a:spcAft>
                <a:buNone/>
              </a:pPr>
              <a:r>
                <a:t/>
              </a:r>
              <a:endParaRPr sz="1306">
                <a:latin typeface="Proxima Nova"/>
                <a:ea typeface="Proxima Nova"/>
                <a:cs typeface="Proxima Nova"/>
                <a:sym typeface="Proxima Nova"/>
              </a:endParaRPr>
            </a:p>
          </p:txBody>
        </p:sp>
        <p:sp>
          <p:nvSpPr>
            <p:cNvPr id="161" name="Google Shape;161;p28"/>
            <p:cNvSpPr txBox="1"/>
            <p:nvPr/>
          </p:nvSpPr>
          <p:spPr>
            <a:xfrm>
              <a:off x="792254" y="2457100"/>
              <a:ext cx="14568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Calibri"/>
                  <a:ea typeface="Calibri"/>
                  <a:cs typeface="Calibri"/>
                  <a:sym typeface="Calibri"/>
                </a:rPr>
                <a:t>Neural Network</a:t>
              </a:r>
              <a:endParaRPr b="1">
                <a:solidFill>
                  <a:schemeClr val="lt1"/>
                </a:solidFill>
                <a:latin typeface="Calibri"/>
                <a:ea typeface="Calibri"/>
                <a:cs typeface="Calibri"/>
                <a:sym typeface="Calibri"/>
              </a:endParaRPr>
            </a:p>
          </p:txBody>
        </p:sp>
        <p:sp>
          <p:nvSpPr>
            <p:cNvPr id="162" name="Google Shape;162;p28"/>
            <p:cNvSpPr txBox="1"/>
            <p:nvPr/>
          </p:nvSpPr>
          <p:spPr>
            <a:xfrm>
              <a:off x="792238" y="2713900"/>
              <a:ext cx="32949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lt1"/>
                  </a:solidFill>
                  <a:latin typeface="Calibri"/>
                  <a:ea typeface="Calibri"/>
                  <a:cs typeface="Calibri"/>
                  <a:sym typeface="Calibri"/>
                </a:rPr>
                <a:t>Transformer processes token relationships</a:t>
              </a:r>
              <a:endParaRPr b="1" sz="1200">
                <a:solidFill>
                  <a:schemeClr val="lt1"/>
                </a:solidFill>
                <a:latin typeface="Calibri"/>
                <a:ea typeface="Calibri"/>
                <a:cs typeface="Calibri"/>
                <a:sym typeface="Calibri"/>
              </a:endParaRPr>
            </a:p>
          </p:txBody>
        </p:sp>
      </p:grpSp>
      <p:grpSp>
        <p:nvGrpSpPr>
          <p:cNvPr id="163" name="Google Shape;163;p28"/>
          <p:cNvGrpSpPr/>
          <p:nvPr/>
        </p:nvGrpSpPr>
        <p:grpSpPr>
          <a:xfrm>
            <a:off x="762263" y="3699375"/>
            <a:ext cx="3479522" cy="672300"/>
            <a:chOff x="739938" y="3699375"/>
            <a:chExt cx="3479522" cy="672300"/>
          </a:xfrm>
        </p:grpSpPr>
        <p:sp>
          <p:nvSpPr>
            <p:cNvPr id="164" name="Google Shape;164;p28"/>
            <p:cNvSpPr/>
            <p:nvPr/>
          </p:nvSpPr>
          <p:spPr>
            <a:xfrm>
              <a:off x="739938" y="3699375"/>
              <a:ext cx="2683500" cy="633300"/>
            </a:xfrm>
            <a:prstGeom prst="roundRect">
              <a:avLst>
                <a:gd fmla="val 16667" name="adj"/>
              </a:avLst>
            </a:prstGeom>
            <a:solidFill>
              <a:schemeClr val="lt2"/>
            </a:solidFill>
            <a:ln cap="flat" cmpd="sng" w="8900">
              <a:solidFill>
                <a:schemeClr val="dk2"/>
              </a:solidFill>
              <a:prstDash val="solid"/>
              <a:round/>
              <a:headEnd len="sm" w="sm" type="none"/>
              <a:tailEnd len="sm" w="sm" type="none"/>
            </a:ln>
          </p:spPr>
          <p:txBody>
            <a:bodyPr anchorCtr="0" anchor="ctr" bIns="85350" lIns="85350" spcFirstLastPara="1" rIns="85350" wrap="square" tIns="85350">
              <a:noAutofit/>
            </a:bodyPr>
            <a:lstStyle/>
            <a:p>
              <a:pPr indent="0" lvl="0" marL="0" rtl="0" algn="l">
                <a:spcBef>
                  <a:spcPts val="0"/>
                </a:spcBef>
                <a:spcAft>
                  <a:spcPts val="0"/>
                </a:spcAft>
                <a:buNone/>
              </a:pPr>
              <a:r>
                <a:t/>
              </a:r>
              <a:endParaRPr sz="1306">
                <a:solidFill>
                  <a:schemeClr val="lt1"/>
                </a:solidFill>
                <a:latin typeface="Proxima Nova"/>
                <a:ea typeface="Proxima Nova"/>
                <a:cs typeface="Proxima Nova"/>
                <a:sym typeface="Proxima Nova"/>
              </a:endParaRPr>
            </a:p>
          </p:txBody>
        </p:sp>
        <p:sp>
          <p:nvSpPr>
            <p:cNvPr id="165" name="Google Shape;165;p28"/>
            <p:cNvSpPr/>
            <p:nvPr/>
          </p:nvSpPr>
          <p:spPr>
            <a:xfrm>
              <a:off x="805459" y="3699375"/>
              <a:ext cx="3414000" cy="633300"/>
            </a:xfrm>
            <a:prstGeom prst="roundRect">
              <a:avLst>
                <a:gd fmla="val 16667" name="adj"/>
              </a:avLst>
            </a:prstGeom>
            <a:solidFill>
              <a:srgbClr val="202729"/>
            </a:solidFill>
            <a:ln cap="flat" cmpd="sng" w="8900">
              <a:solidFill>
                <a:schemeClr val="dk2"/>
              </a:solidFill>
              <a:prstDash val="solid"/>
              <a:round/>
              <a:headEnd len="sm" w="sm" type="none"/>
              <a:tailEnd len="sm" w="sm" type="none"/>
            </a:ln>
          </p:spPr>
          <p:txBody>
            <a:bodyPr anchorCtr="0" anchor="ctr" bIns="85350" lIns="85350" spcFirstLastPara="1" rIns="85350" wrap="square" tIns="85350">
              <a:noAutofit/>
            </a:bodyPr>
            <a:lstStyle/>
            <a:p>
              <a:pPr indent="0" lvl="0" marL="0" rtl="0" algn="ctr">
                <a:spcBef>
                  <a:spcPts val="0"/>
                </a:spcBef>
                <a:spcAft>
                  <a:spcPts val="0"/>
                </a:spcAft>
                <a:buNone/>
              </a:pPr>
              <a:r>
                <a:t/>
              </a:r>
              <a:endParaRPr sz="1306">
                <a:latin typeface="Proxima Nova"/>
                <a:ea typeface="Proxima Nova"/>
                <a:cs typeface="Proxima Nova"/>
                <a:sym typeface="Proxima Nova"/>
              </a:endParaRPr>
            </a:p>
          </p:txBody>
        </p:sp>
        <p:sp>
          <p:nvSpPr>
            <p:cNvPr id="166" name="Google Shape;166;p28"/>
            <p:cNvSpPr txBox="1"/>
            <p:nvPr/>
          </p:nvSpPr>
          <p:spPr>
            <a:xfrm>
              <a:off x="824988" y="3699375"/>
              <a:ext cx="1120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Calibri"/>
                  <a:ea typeface="Calibri"/>
                  <a:cs typeface="Calibri"/>
                  <a:sym typeface="Calibri"/>
                </a:rPr>
                <a:t>Out</a:t>
              </a:r>
              <a:r>
                <a:rPr b="1" lang="en-GB">
                  <a:solidFill>
                    <a:schemeClr val="lt1"/>
                  </a:solidFill>
                  <a:latin typeface="Calibri"/>
                  <a:ea typeface="Calibri"/>
                  <a:cs typeface="Calibri"/>
                  <a:sym typeface="Calibri"/>
                </a:rPr>
                <a:t>put Text</a:t>
              </a:r>
              <a:endParaRPr b="1">
                <a:solidFill>
                  <a:schemeClr val="lt1"/>
                </a:solidFill>
                <a:latin typeface="Calibri"/>
                <a:ea typeface="Calibri"/>
                <a:cs typeface="Calibri"/>
                <a:sym typeface="Calibri"/>
              </a:endParaRPr>
            </a:p>
          </p:txBody>
        </p:sp>
        <p:sp>
          <p:nvSpPr>
            <p:cNvPr id="167" name="Google Shape;167;p28"/>
            <p:cNvSpPr txBox="1"/>
            <p:nvPr/>
          </p:nvSpPr>
          <p:spPr>
            <a:xfrm>
              <a:off x="824988" y="3956175"/>
              <a:ext cx="32949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lt1"/>
                  </a:solidFill>
                  <a:latin typeface="Calibri"/>
                  <a:ea typeface="Calibri"/>
                  <a:cs typeface="Calibri"/>
                  <a:sym typeface="Calibri"/>
                </a:rPr>
                <a:t>Tokens converted back to readable text</a:t>
              </a:r>
              <a:endParaRPr b="1" sz="1200">
                <a:solidFill>
                  <a:schemeClr val="lt1"/>
                </a:solidFill>
                <a:latin typeface="Calibri"/>
                <a:ea typeface="Calibri"/>
                <a:cs typeface="Calibri"/>
                <a:sym typeface="Calibri"/>
              </a:endParaRPr>
            </a:p>
          </p:txBody>
        </p:sp>
      </p:grpSp>
      <p:sp>
        <p:nvSpPr>
          <p:cNvPr id="168" name="Google Shape;168;p28"/>
          <p:cNvSpPr/>
          <p:nvPr/>
        </p:nvSpPr>
        <p:spPr>
          <a:xfrm>
            <a:off x="5416488" y="1926700"/>
            <a:ext cx="2683500" cy="633300"/>
          </a:xfrm>
          <a:prstGeom prst="roundRect">
            <a:avLst>
              <a:gd fmla="val 16667" name="adj"/>
            </a:avLst>
          </a:prstGeom>
          <a:solidFill>
            <a:srgbClr val="F1C232"/>
          </a:solidFill>
          <a:ln>
            <a:noFill/>
          </a:ln>
        </p:spPr>
        <p:txBody>
          <a:bodyPr anchorCtr="0" anchor="ctr" bIns="85350" lIns="85350" spcFirstLastPara="1" rIns="85350" wrap="square" tIns="85350">
            <a:noAutofit/>
          </a:bodyPr>
          <a:lstStyle/>
          <a:p>
            <a:pPr indent="0" lvl="0" marL="0" rtl="0" algn="l">
              <a:spcBef>
                <a:spcPts val="0"/>
              </a:spcBef>
              <a:spcAft>
                <a:spcPts val="0"/>
              </a:spcAft>
              <a:buNone/>
            </a:pPr>
            <a:r>
              <a:t/>
            </a:r>
            <a:endParaRPr sz="1306">
              <a:solidFill>
                <a:schemeClr val="lt1"/>
              </a:solidFill>
              <a:latin typeface="Proxima Nova"/>
              <a:ea typeface="Proxima Nova"/>
              <a:cs typeface="Proxima Nova"/>
              <a:sym typeface="Proxima Nova"/>
            </a:endParaRPr>
          </a:p>
        </p:txBody>
      </p:sp>
      <p:sp>
        <p:nvSpPr>
          <p:cNvPr id="169" name="Google Shape;169;p28"/>
          <p:cNvSpPr/>
          <p:nvPr/>
        </p:nvSpPr>
        <p:spPr>
          <a:xfrm>
            <a:off x="5482009" y="1926700"/>
            <a:ext cx="3414000" cy="633300"/>
          </a:xfrm>
          <a:prstGeom prst="roundRect">
            <a:avLst>
              <a:gd fmla="val 16667" name="adj"/>
            </a:avLst>
          </a:prstGeom>
          <a:solidFill>
            <a:srgbClr val="202729"/>
          </a:solidFill>
          <a:ln cap="flat" cmpd="sng" w="8900">
            <a:solidFill>
              <a:srgbClr val="F1C232"/>
            </a:solidFill>
            <a:prstDash val="solid"/>
            <a:round/>
            <a:headEnd len="sm" w="sm" type="none"/>
            <a:tailEnd len="sm" w="sm" type="none"/>
          </a:ln>
        </p:spPr>
        <p:txBody>
          <a:bodyPr anchorCtr="0" anchor="ctr" bIns="85350" lIns="85350" spcFirstLastPara="1" rIns="85350" wrap="square" tIns="85350">
            <a:noAutofit/>
          </a:bodyPr>
          <a:lstStyle/>
          <a:p>
            <a:pPr indent="0" lvl="0" marL="0" rtl="0" algn="ctr">
              <a:spcBef>
                <a:spcPts val="0"/>
              </a:spcBef>
              <a:spcAft>
                <a:spcPts val="0"/>
              </a:spcAft>
              <a:buNone/>
            </a:pPr>
            <a:r>
              <a:t/>
            </a:r>
            <a:endParaRPr sz="1306">
              <a:latin typeface="Proxima Nova"/>
              <a:ea typeface="Proxima Nova"/>
              <a:cs typeface="Proxima Nova"/>
              <a:sym typeface="Proxima Nova"/>
            </a:endParaRPr>
          </a:p>
        </p:txBody>
      </p:sp>
      <p:sp>
        <p:nvSpPr>
          <p:cNvPr id="170" name="Google Shape;170;p28"/>
          <p:cNvSpPr txBox="1"/>
          <p:nvPr/>
        </p:nvSpPr>
        <p:spPr>
          <a:xfrm>
            <a:off x="5501538" y="1926700"/>
            <a:ext cx="1120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Calibri"/>
                <a:ea typeface="Calibri"/>
                <a:cs typeface="Calibri"/>
                <a:sym typeface="Calibri"/>
              </a:rPr>
              <a:t>Tokenization</a:t>
            </a:r>
            <a:endParaRPr b="1">
              <a:solidFill>
                <a:schemeClr val="lt1"/>
              </a:solidFill>
              <a:latin typeface="Calibri"/>
              <a:ea typeface="Calibri"/>
              <a:cs typeface="Calibri"/>
              <a:sym typeface="Calibri"/>
            </a:endParaRPr>
          </a:p>
        </p:txBody>
      </p:sp>
      <p:sp>
        <p:nvSpPr>
          <p:cNvPr id="171" name="Google Shape;171;p28"/>
          <p:cNvSpPr txBox="1"/>
          <p:nvPr/>
        </p:nvSpPr>
        <p:spPr>
          <a:xfrm>
            <a:off x="5501538" y="2183500"/>
            <a:ext cx="32949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lt1"/>
                </a:solidFill>
                <a:latin typeface="Calibri"/>
                <a:ea typeface="Calibri"/>
                <a:cs typeface="Calibri"/>
                <a:sym typeface="Calibri"/>
              </a:rPr>
              <a:t>Text converted to numerical tokens</a:t>
            </a:r>
            <a:endParaRPr b="1" sz="1200">
              <a:solidFill>
                <a:schemeClr val="lt1"/>
              </a:solidFill>
              <a:latin typeface="Calibri"/>
              <a:ea typeface="Calibri"/>
              <a:cs typeface="Calibri"/>
              <a:sym typeface="Calibri"/>
            </a:endParaRPr>
          </a:p>
        </p:txBody>
      </p:sp>
      <p:sp>
        <p:nvSpPr>
          <p:cNvPr id="172" name="Google Shape;172;p28"/>
          <p:cNvSpPr/>
          <p:nvPr/>
        </p:nvSpPr>
        <p:spPr>
          <a:xfrm>
            <a:off x="5416488" y="3031600"/>
            <a:ext cx="2683500" cy="633300"/>
          </a:xfrm>
          <a:prstGeom prst="roundRect">
            <a:avLst>
              <a:gd fmla="val 16667" name="adj"/>
            </a:avLst>
          </a:prstGeom>
          <a:solidFill>
            <a:srgbClr val="F1C232"/>
          </a:solidFill>
          <a:ln>
            <a:noFill/>
          </a:ln>
        </p:spPr>
        <p:txBody>
          <a:bodyPr anchorCtr="0" anchor="ctr" bIns="85350" lIns="85350" spcFirstLastPara="1" rIns="85350" wrap="square" tIns="85350">
            <a:noAutofit/>
          </a:bodyPr>
          <a:lstStyle/>
          <a:p>
            <a:pPr indent="0" lvl="0" marL="0" rtl="0" algn="l">
              <a:spcBef>
                <a:spcPts val="0"/>
              </a:spcBef>
              <a:spcAft>
                <a:spcPts val="0"/>
              </a:spcAft>
              <a:buNone/>
            </a:pPr>
            <a:r>
              <a:t/>
            </a:r>
            <a:endParaRPr sz="1306">
              <a:solidFill>
                <a:schemeClr val="lt1"/>
              </a:solidFill>
              <a:latin typeface="Proxima Nova"/>
              <a:ea typeface="Proxima Nova"/>
              <a:cs typeface="Proxima Nova"/>
              <a:sym typeface="Proxima Nova"/>
            </a:endParaRPr>
          </a:p>
        </p:txBody>
      </p:sp>
      <p:sp>
        <p:nvSpPr>
          <p:cNvPr id="173" name="Google Shape;173;p28"/>
          <p:cNvSpPr/>
          <p:nvPr/>
        </p:nvSpPr>
        <p:spPr>
          <a:xfrm>
            <a:off x="5482009" y="3031600"/>
            <a:ext cx="3414000" cy="633300"/>
          </a:xfrm>
          <a:prstGeom prst="roundRect">
            <a:avLst>
              <a:gd fmla="val 16667" name="adj"/>
            </a:avLst>
          </a:prstGeom>
          <a:solidFill>
            <a:srgbClr val="202729"/>
          </a:solidFill>
          <a:ln cap="flat" cmpd="sng" w="8900">
            <a:solidFill>
              <a:srgbClr val="F1C232"/>
            </a:solidFill>
            <a:prstDash val="solid"/>
            <a:round/>
            <a:headEnd len="sm" w="sm" type="none"/>
            <a:tailEnd len="sm" w="sm" type="none"/>
          </a:ln>
        </p:spPr>
        <p:txBody>
          <a:bodyPr anchorCtr="0" anchor="ctr" bIns="85350" lIns="85350" spcFirstLastPara="1" rIns="85350" wrap="square" tIns="85350">
            <a:noAutofit/>
          </a:bodyPr>
          <a:lstStyle/>
          <a:p>
            <a:pPr indent="0" lvl="0" marL="0" rtl="0" algn="ctr">
              <a:spcBef>
                <a:spcPts val="0"/>
              </a:spcBef>
              <a:spcAft>
                <a:spcPts val="0"/>
              </a:spcAft>
              <a:buNone/>
            </a:pPr>
            <a:r>
              <a:t/>
            </a:r>
            <a:endParaRPr sz="1306">
              <a:latin typeface="Proxima Nova"/>
              <a:ea typeface="Proxima Nova"/>
              <a:cs typeface="Proxima Nova"/>
              <a:sym typeface="Proxima Nova"/>
            </a:endParaRPr>
          </a:p>
        </p:txBody>
      </p:sp>
      <p:sp>
        <p:nvSpPr>
          <p:cNvPr id="174" name="Google Shape;174;p28"/>
          <p:cNvSpPr txBox="1"/>
          <p:nvPr/>
        </p:nvSpPr>
        <p:spPr>
          <a:xfrm>
            <a:off x="5501550" y="3031600"/>
            <a:ext cx="13446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Calibri"/>
                <a:ea typeface="Calibri"/>
                <a:cs typeface="Calibri"/>
                <a:sym typeface="Calibri"/>
              </a:rPr>
              <a:t>Output Tokens</a:t>
            </a:r>
            <a:endParaRPr b="1">
              <a:solidFill>
                <a:schemeClr val="lt1"/>
              </a:solidFill>
              <a:latin typeface="Calibri"/>
              <a:ea typeface="Calibri"/>
              <a:cs typeface="Calibri"/>
              <a:sym typeface="Calibri"/>
            </a:endParaRPr>
          </a:p>
        </p:txBody>
      </p:sp>
      <p:sp>
        <p:nvSpPr>
          <p:cNvPr id="175" name="Google Shape;175;p28"/>
          <p:cNvSpPr txBox="1"/>
          <p:nvPr/>
        </p:nvSpPr>
        <p:spPr>
          <a:xfrm>
            <a:off x="5501538" y="3288400"/>
            <a:ext cx="32949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lt1"/>
                </a:solidFill>
                <a:latin typeface="Calibri"/>
                <a:ea typeface="Calibri"/>
                <a:cs typeface="Calibri"/>
                <a:sym typeface="Calibri"/>
              </a:rPr>
              <a:t>Model predicts next token sequences</a:t>
            </a:r>
            <a:endParaRPr b="1" sz="1200">
              <a:solidFill>
                <a:schemeClr val="lt1"/>
              </a:solidFill>
              <a:latin typeface="Calibri"/>
              <a:ea typeface="Calibri"/>
              <a:cs typeface="Calibri"/>
              <a:sym typeface="Calibri"/>
            </a:endParaRPr>
          </a:p>
        </p:txBody>
      </p:sp>
      <p:sp>
        <p:nvSpPr>
          <p:cNvPr id="176" name="Google Shape;176;p28"/>
          <p:cNvSpPr/>
          <p:nvPr/>
        </p:nvSpPr>
        <p:spPr>
          <a:xfrm>
            <a:off x="289250" y="1409825"/>
            <a:ext cx="343800" cy="370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Proxima Nova"/>
                <a:ea typeface="Proxima Nova"/>
                <a:cs typeface="Proxima Nova"/>
                <a:sym typeface="Proxima Nova"/>
              </a:rPr>
              <a:t>1</a:t>
            </a:r>
            <a:endParaRPr b="1">
              <a:latin typeface="Proxima Nova"/>
              <a:ea typeface="Proxima Nova"/>
              <a:cs typeface="Proxima Nova"/>
              <a:sym typeface="Proxima Nova"/>
            </a:endParaRPr>
          </a:p>
        </p:txBody>
      </p:sp>
      <p:sp>
        <p:nvSpPr>
          <p:cNvPr id="177" name="Google Shape;177;p28"/>
          <p:cNvSpPr/>
          <p:nvPr/>
        </p:nvSpPr>
        <p:spPr>
          <a:xfrm>
            <a:off x="289250" y="2630050"/>
            <a:ext cx="343800" cy="370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Proxima Nova"/>
                <a:ea typeface="Proxima Nova"/>
                <a:cs typeface="Proxima Nova"/>
                <a:sym typeface="Proxima Nova"/>
              </a:rPr>
              <a:t>3</a:t>
            </a:r>
            <a:endParaRPr b="1">
              <a:latin typeface="Proxima Nova"/>
              <a:ea typeface="Proxima Nova"/>
              <a:cs typeface="Proxima Nova"/>
              <a:sym typeface="Proxima Nova"/>
            </a:endParaRPr>
          </a:p>
        </p:txBody>
      </p:sp>
      <p:sp>
        <p:nvSpPr>
          <p:cNvPr id="178" name="Google Shape;178;p28"/>
          <p:cNvSpPr/>
          <p:nvPr/>
        </p:nvSpPr>
        <p:spPr>
          <a:xfrm>
            <a:off x="289250" y="3850275"/>
            <a:ext cx="343800" cy="370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Proxima Nova"/>
                <a:ea typeface="Proxima Nova"/>
                <a:cs typeface="Proxima Nova"/>
                <a:sym typeface="Proxima Nova"/>
              </a:rPr>
              <a:t>5</a:t>
            </a:r>
            <a:endParaRPr b="1">
              <a:latin typeface="Proxima Nova"/>
              <a:ea typeface="Proxima Nova"/>
              <a:cs typeface="Proxima Nova"/>
              <a:sym typeface="Proxima Nova"/>
            </a:endParaRPr>
          </a:p>
        </p:txBody>
      </p:sp>
      <p:sp>
        <p:nvSpPr>
          <p:cNvPr id="179" name="Google Shape;179;p28"/>
          <p:cNvSpPr/>
          <p:nvPr/>
        </p:nvSpPr>
        <p:spPr>
          <a:xfrm>
            <a:off x="4902225" y="2108650"/>
            <a:ext cx="343800" cy="370500"/>
          </a:xfrm>
          <a:prstGeom prst="roundRect">
            <a:avLst>
              <a:gd fmla="val 16667" name="adj"/>
            </a:avLst>
          </a:prstGeom>
          <a:solidFill>
            <a:srgbClr val="F1C2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Proxima Nova"/>
                <a:ea typeface="Proxima Nova"/>
                <a:cs typeface="Proxima Nova"/>
                <a:sym typeface="Proxima Nova"/>
              </a:rPr>
              <a:t>2</a:t>
            </a:r>
            <a:endParaRPr b="1">
              <a:latin typeface="Proxima Nova"/>
              <a:ea typeface="Proxima Nova"/>
              <a:cs typeface="Proxima Nova"/>
              <a:sym typeface="Proxima Nova"/>
            </a:endParaRPr>
          </a:p>
        </p:txBody>
      </p:sp>
      <p:sp>
        <p:nvSpPr>
          <p:cNvPr id="180" name="Google Shape;180;p28"/>
          <p:cNvSpPr/>
          <p:nvPr/>
        </p:nvSpPr>
        <p:spPr>
          <a:xfrm>
            <a:off x="4902225" y="3163000"/>
            <a:ext cx="343800" cy="370500"/>
          </a:xfrm>
          <a:prstGeom prst="roundRect">
            <a:avLst>
              <a:gd fmla="val 16667" name="adj"/>
            </a:avLst>
          </a:prstGeom>
          <a:solidFill>
            <a:srgbClr val="F1C2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latin typeface="Proxima Nova"/>
                <a:ea typeface="Proxima Nova"/>
                <a:cs typeface="Proxima Nova"/>
                <a:sym typeface="Proxima Nova"/>
              </a:rPr>
              <a:t>4</a:t>
            </a:r>
            <a:endParaRPr b="1">
              <a:latin typeface="Proxima Nova"/>
              <a:ea typeface="Proxima Nova"/>
              <a:cs typeface="Proxima Nova"/>
              <a:sym typeface="Proxima Nova"/>
            </a:endParaRPr>
          </a:p>
        </p:txBody>
      </p:sp>
      <p:cxnSp>
        <p:nvCxnSpPr>
          <p:cNvPr id="181" name="Google Shape;181;p28"/>
          <p:cNvCxnSpPr/>
          <p:nvPr/>
        </p:nvCxnSpPr>
        <p:spPr>
          <a:xfrm>
            <a:off x="4572000" y="757675"/>
            <a:ext cx="0" cy="4026600"/>
          </a:xfrm>
          <a:prstGeom prst="straightConnector1">
            <a:avLst/>
          </a:prstGeom>
          <a:noFill/>
          <a:ln cap="flat" cmpd="sng" w="28575">
            <a:solidFill>
              <a:schemeClr val="dk2"/>
            </a:solidFill>
            <a:prstDash val="solid"/>
            <a:round/>
            <a:headEnd len="med" w="med" type="none"/>
            <a:tailEnd len="med" w="med" type="none"/>
          </a:ln>
        </p:spPr>
      </p:cxnSp>
      <p:cxnSp>
        <p:nvCxnSpPr>
          <p:cNvPr id="182" name="Google Shape;182;p28"/>
          <p:cNvCxnSpPr/>
          <p:nvPr/>
        </p:nvCxnSpPr>
        <p:spPr>
          <a:xfrm>
            <a:off x="4449300" y="757675"/>
            <a:ext cx="245400" cy="0"/>
          </a:xfrm>
          <a:prstGeom prst="straightConnector1">
            <a:avLst/>
          </a:prstGeom>
          <a:noFill/>
          <a:ln cap="flat" cmpd="sng" w="28575">
            <a:solidFill>
              <a:schemeClr val="dk2"/>
            </a:solidFill>
            <a:prstDash val="solid"/>
            <a:round/>
            <a:headEnd len="med" w="med" type="none"/>
            <a:tailEnd len="med" w="med" type="none"/>
          </a:ln>
        </p:spPr>
      </p:cxnSp>
      <p:cxnSp>
        <p:nvCxnSpPr>
          <p:cNvPr id="183" name="Google Shape;183;p28"/>
          <p:cNvCxnSpPr/>
          <p:nvPr/>
        </p:nvCxnSpPr>
        <p:spPr>
          <a:xfrm>
            <a:off x="4449300" y="4784275"/>
            <a:ext cx="245400" cy="0"/>
          </a:xfrm>
          <a:prstGeom prst="straightConnector1">
            <a:avLst/>
          </a:prstGeom>
          <a:noFill/>
          <a:ln cap="flat" cmpd="sng" w="28575">
            <a:solidFill>
              <a:schemeClr val="dk2"/>
            </a:solidFill>
            <a:prstDash val="solid"/>
            <a:round/>
            <a:headEnd len="med" w="med" type="none"/>
            <a:tailEnd len="med" w="med" type="none"/>
          </a:ln>
        </p:spPr>
      </p:cxnSp>
      <p:cxnSp>
        <p:nvCxnSpPr>
          <p:cNvPr id="184" name="Google Shape;184;p28"/>
          <p:cNvCxnSpPr>
            <a:endCxn id="155" idx="3"/>
          </p:cNvCxnSpPr>
          <p:nvPr/>
        </p:nvCxnSpPr>
        <p:spPr>
          <a:xfrm rot="10800000">
            <a:off x="4241784" y="1575575"/>
            <a:ext cx="333000" cy="0"/>
          </a:xfrm>
          <a:prstGeom prst="straightConnector1">
            <a:avLst/>
          </a:prstGeom>
          <a:noFill/>
          <a:ln cap="flat" cmpd="sng" w="9525">
            <a:solidFill>
              <a:schemeClr val="dk2"/>
            </a:solidFill>
            <a:prstDash val="solid"/>
            <a:round/>
            <a:headEnd len="med" w="med" type="none"/>
            <a:tailEnd len="med" w="med" type="triangle"/>
          </a:ln>
        </p:spPr>
      </p:cxnSp>
      <p:cxnSp>
        <p:nvCxnSpPr>
          <p:cNvPr id="185" name="Google Shape;185;p28"/>
          <p:cNvCxnSpPr/>
          <p:nvPr/>
        </p:nvCxnSpPr>
        <p:spPr>
          <a:xfrm rot="10800000">
            <a:off x="4241875" y="2770975"/>
            <a:ext cx="333000" cy="0"/>
          </a:xfrm>
          <a:prstGeom prst="straightConnector1">
            <a:avLst/>
          </a:prstGeom>
          <a:noFill/>
          <a:ln cap="flat" cmpd="sng" w="9525">
            <a:solidFill>
              <a:schemeClr val="dk2"/>
            </a:solidFill>
            <a:prstDash val="solid"/>
            <a:round/>
            <a:headEnd len="med" w="med" type="none"/>
            <a:tailEnd len="med" w="med" type="triangle"/>
          </a:ln>
        </p:spPr>
      </p:cxnSp>
      <p:cxnSp>
        <p:nvCxnSpPr>
          <p:cNvPr id="186" name="Google Shape;186;p28"/>
          <p:cNvCxnSpPr/>
          <p:nvPr/>
        </p:nvCxnSpPr>
        <p:spPr>
          <a:xfrm rot="10800000">
            <a:off x="4241875" y="4035525"/>
            <a:ext cx="333000" cy="0"/>
          </a:xfrm>
          <a:prstGeom prst="straightConnector1">
            <a:avLst/>
          </a:prstGeom>
          <a:noFill/>
          <a:ln cap="flat" cmpd="sng" w="9525">
            <a:solidFill>
              <a:schemeClr val="dk2"/>
            </a:solidFill>
            <a:prstDash val="solid"/>
            <a:round/>
            <a:headEnd len="med" w="med" type="none"/>
            <a:tailEnd len="med" w="med" type="triangle"/>
          </a:ln>
        </p:spPr>
      </p:cxnSp>
      <p:cxnSp>
        <p:nvCxnSpPr>
          <p:cNvPr id="187" name="Google Shape;187;p28"/>
          <p:cNvCxnSpPr/>
          <p:nvPr/>
        </p:nvCxnSpPr>
        <p:spPr>
          <a:xfrm flipH="1" rot="10800000">
            <a:off x="4580663" y="2289850"/>
            <a:ext cx="312900" cy="8100"/>
          </a:xfrm>
          <a:prstGeom prst="straightConnector1">
            <a:avLst/>
          </a:prstGeom>
          <a:noFill/>
          <a:ln cap="flat" cmpd="sng" w="9525">
            <a:solidFill>
              <a:schemeClr val="dk2"/>
            </a:solidFill>
            <a:prstDash val="solid"/>
            <a:round/>
            <a:headEnd len="med" w="med" type="none"/>
            <a:tailEnd len="med" w="med" type="triangle"/>
          </a:ln>
        </p:spPr>
      </p:cxnSp>
      <p:cxnSp>
        <p:nvCxnSpPr>
          <p:cNvPr id="188" name="Google Shape;188;p28"/>
          <p:cNvCxnSpPr/>
          <p:nvPr/>
        </p:nvCxnSpPr>
        <p:spPr>
          <a:xfrm flipH="1" rot="10800000">
            <a:off x="4589313" y="3344200"/>
            <a:ext cx="312900" cy="8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729"/>
        </a:solidFill>
      </p:bgPr>
    </p:bg>
    <p:spTree>
      <p:nvGrpSpPr>
        <p:cNvPr id="192" name="Shape 192"/>
        <p:cNvGrpSpPr/>
        <p:nvPr/>
      </p:nvGrpSpPr>
      <p:grpSpPr>
        <a:xfrm>
          <a:off x="0" y="0"/>
          <a:ext cx="0" cy="0"/>
          <a:chOff x="0" y="0"/>
          <a:chExt cx="0" cy="0"/>
        </a:xfrm>
      </p:grpSpPr>
      <p:sp>
        <p:nvSpPr>
          <p:cNvPr id="193" name="Google Shape;193;p29"/>
          <p:cNvSpPr txBox="1"/>
          <p:nvPr/>
        </p:nvSpPr>
        <p:spPr>
          <a:xfrm>
            <a:off x="3899700" y="-33975"/>
            <a:ext cx="1344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lt1"/>
                </a:solidFill>
              </a:rPr>
              <a:t>Tokenization</a:t>
            </a:r>
            <a:endParaRPr b="1" sz="1500">
              <a:solidFill>
                <a:schemeClr val="lt1"/>
              </a:solidFill>
            </a:endParaRPr>
          </a:p>
        </p:txBody>
      </p:sp>
      <p:cxnSp>
        <p:nvCxnSpPr>
          <p:cNvPr id="194" name="Google Shape;194;p29"/>
          <p:cNvCxnSpPr/>
          <p:nvPr/>
        </p:nvCxnSpPr>
        <p:spPr>
          <a:xfrm>
            <a:off x="4038600" y="333375"/>
            <a:ext cx="1095300" cy="0"/>
          </a:xfrm>
          <a:prstGeom prst="straightConnector1">
            <a:avLst/>
          </a:prstGeom>
          <a:noFill/>
          <a:ln cap="flat" cmpd="sng" w="9525">
            <a:solidFill>
              <a:schemeClr val="dk2"/>
            </a:solidFill>
            <a:prstDash val="solid"/>
            <a:round/>
            <a:headEnd len="med" w="med" type="none"/>
            <a:tailEnd len="med" w="med" type="none"/>
          </a:ln>
        </p:spPr>
      </p:cxnSp>
      <p:grpSp>
        <p:nvGrpSpPr>
          <p:cNvPr id="195" name="Google Shape;195;p29"/>
          <p:cNvGrpSpPr/>
          <p:nvPr/>
        </p:nvGrpSpPr>
        <p:grpSpPr>
          <a:xfrm>
            <a:off x="683914" y="975032"/>
            <a:ext cx="3647583" cy="2901654"/>
            <a:chOff x="699938" y="1258925"/>
            <a:chExt cx="3479522" cy="633300"/>
          </a:xfrm>
        </p:grpSpPr>
        <p:sp>
          <p:nvSpPr>
            <p:cNvPr id="196" name="Google Shape;196;p29"/>
            <p:cNvSpPr/>
            <p:nvPr/>
          </p:nvSpPr>
          <p:spPr>
            <a:xfrm>
              <a:off x="699938" y="1258925"/>
              <a:ext cx="2683500" cy="633300"/>
            </a:xfrm>
            <a:prstGeom prst="roundRect">
              <a:avLst>
                <a:gd fmla="val 16667" name="adj"/>
              </a:avLst>
            </a:prstGeom>
            <a:solidFill>
              <a:schemeClr val="lt2"/>
            </a:solidFill>
            <a:ln cap="flat" cmpd="sng" w="15075">
              <a:solidFill>
                <a:schemeClr val="dk2"/>
              </a:solidFill>
              <a:prstDash val="solid"/>
              <a:round/>
              <a:headEnd len="sm" w="sm" type="none"/>
              <a:tailEnd len="sm" w="sm" type="none"/>
            </a:ln>
          </p:spPr>
          <p:txBody>
            <a:bodyPr anchorCtr="0" anchor="ctr" bIns="144575" lIns="144575" spcFirstLastPara="1" rIns="144575" wrap="square" tIns="144575">
              <a:noAutofit/>
            </a:bodyPr>
            <a:lstStyle/>
            <a:p>
              <a:pPr indent="0" lvl="0" marL="0" rtl="0" algn="l">
                <a:spcBef>
                  <a:spcPts val="0"/>
                </a:spcBef>
                <a:spcAft>
                  <a:spcPts val="0"/>
                </a:spcAft>
                <a:buNone/>
              </a:pPr>
              <a:r>
                <a:t/>
              </a:r>
              <a:endParaRPr sz="2213">
                <a:solidFill>
                  <a:schemeClr val="lt1"/>
                </a:solidFill>
                <a:latin typeface="Proxima Nova"/>
                <a:ea typeface="Proxima Nova"/>
                <a:cs typeface="Proxima Nova"/>
                <a:sym typeface="Proxima Nova"/>
              </a:endParaRPr>
            </a:p>
          </p:txBody>
        </p:sp>
        <p:sp>
          <p:nvSpPr>
            <p:cNvPr id="197" name="Google Shape;197;p29"/>
            <p:cNvSpPr/>
            <p:nvPr/>
          </p:nvSpPr>
          <p:spPr>
            <a:xfrm>
              <a:off x="765459" y="1258925"/>
              <a:ext cx="3414000" cy="633300"/>
            </a:xfrm>
            <a:prstGeom prst="roundRect">
              <a:avLst>
                <a:gd fmla="val 16667" name="adj"/>
              </a:avLst>
            </a:prstGeom>
            <a:solidFill>
              <a:srgbClr val="202729"/>
            </a:solidFill>
            <a:ln cap="flat" cmpd="sng" w="15075">
              <a:solidFill>
                <a:schemeClr val="dk2"/>
              </a:solidFill>
              <a:prstDash val="solid"/>
              <a:round/>
              <a:headEnd len="sm" w="sm" type="none"/>
              <a:tailEnd len="sm" w="sm" type="none"/>
            </a:ln>
          </p:spPr>
          <p:txBody>
            <a:bodyPr anchorCtr="0" anchor="ctr" bIns="144575" lIns="144575" spcFirstLastPara="1" rIns="144575" wrap="square" tIns="144575">
              <a:noAutofit/>
            </a:bodyPr>
            <a:lstStyle/>
            <a:p>
              <a:pPr indent="0" lvl="0" marL="0" rtl="0" algn="ctr">
                <a:spcBef>
                  <a:spcPts val="0"/>
                </a:spcBef>
                <a:spcAft>
                  <a:spcPts val="0"/>
                </a:spcAft>
                <a:buNone/>
              </a:pPr>
              <a:r>
                <a:t/>
              </a:r>
              <a:endParaRPr sz="2213">
                <a:latin typeface="Proxima Nova"/>
                <a:ea typeface="Proxima Nova"/>
                <a:cs typeface="Proxima Nova"/>
                <a:sym typeface="Proxima Nova"/>
              </a:endParaRPr>
            </a:p>
          </p:txBody>
        </p:sp>
      </p:grpSp>
      <p:sp>
        <p:nvSpPr>
          <p:cNvPr id="198" name="Google Shape;198;p29"/>
          <p:cNvSpPr txBox="1"/>
          <p:nvPr/>
        </p:nvSpPr>
        <p:spPr>
          <a:xfrm>
            <a:off x="825939" y="1097000"/>
            <a:ext cx="17625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lt1"/>
                </a:solidFill>
                <a:latin typeface="Calibri"/>
                <a:ea typeface="Calibri"/>
                <a:cs typeface="Calibri"/>
                <a:sym typeface="Calibri"/>
              </a:rPr>
              <a:t>Tokenization Process</a:t>
            </a:r>
            <a:endParaRPr b="1" sz="1300">
              <a:solidFill>
                <a:schemeClr val="lt1"/>
              </a:solidFill>
              <a:latin typeface="Calibri"/>
              <a:ea typeface="Calibri"/>
              <a:cs typeface="Calibri"/>
              <a:sym typeface="Calibri"/>
            </a:endParaRPr>
          </a:p>
        </p:txBody>
      </p:sp>
      <p:sp>
        <p:nvSpPr>
          <p:cNvPr id="199" name="Google Shape;199;p29"/>
          <p:cNvSpPr txBox="1"/>
          <p:nvPr/>
        </p:nvSpPr>
        <p:spPr>
          <a:xfrm>
            <a:off x="731688" y="1583525"/>
            <a:ext cx="3294900" cy="13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Calibri"/>
                <a:ea typeface="Calibri"/>
                <a:cs typeface="Calibri"/>
                <a:sym typeface="Calibri"/>
              </a:rPr>
              <a:t>Tokenization breaks text into smaller units like words, subwords, or characters. This allows LLMs to process language efficiently by converting these units into numeric IDs, enabling better generalization and reduced vocabulary size.</a:t>
            </a:r>
            <a:endParaRPr sz="1100">
              <a:solidFill>
                <a:schemeClr val="lt1"/>
              </a:solidFill>
              <a:latin typeface="Calibri"/>
              <a:ea typeface="Calibri"/>
              <a:cs typeface="Calibri"/>
              <a:sym typeface="Calibri"/>
            </a:endParaRPr>
          </a:p>
        </p:txBody>
      </p:sp>
      <p:sp>
        <p:nvSpPr>
          <p:cNvPr id="200" name="Google Shape;200;p29"/>
          <p:cNvSpPr txBox="1"/>
          <p:nvPr/>
        </p:nvSpPr>
        <p:spPr>
          <a:xfrm>
            <a:off x="640563" y="2839725"/>
            <a:ext cx="3294900" cy="132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Splits text into smaller semantic chunks</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Converts tokens into numerical IDs</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Enables processing of unseen words</a:t>
            </a:r>
            <a:endParaRPr sz="1100">
              <a:solidFill>
                <a:schemeClr val="lt1"/>
              </a:solidFill>
              <a:latin typeface="Calibri"/>
              <a:ea typeface="Calibri"/>
              <a:cs typeface="Calibri"/>
              <a:sym typeface="Calibri"/>
            </a:endParaRPr>
          </a:p>
          <a:p>
            <a:pPr indent="0" lvl="0" marL="0" rtl="0" algn="l">
              <a:spcBef>
                <a:spcPts val="0"/>
              </a:spcBef>
              <a:spcAft>
                <a:spcPts val="0"/>
              </a:spcAft>
              <a:buNone/>
            </a:pPr>
            <a:r>
              <a:t/>
            </a:r>
            <a:endParaRPr sz="1100">
              <a:solidFill>
                <a:schemeClr val="lt1"/>
              </a:solidFill>
              <a:latin typeface="Calibri"/>
              <a:ea typeface="Calibri"/>
              <a:cs typeface="Calibri"/>
              <a:sym typeface="Calibri"/>
            </a:endParaRPr>
          </a:p>
        </p:txBody>
      </p:sp>
      <p:grpSp>
        <p:nvGrpSpPr>
          <p:cNvPr id="201" name="Google Shape;201;p29"/>
          <p:cNvGrpSpPr/>
          <p:nvPr/>
        </p:nvGrpSpPr>
        <p:grpSpPr>
          <a:xfrm>
            <a:off x="4855864" y="975032"/>
            <a:ext cx="3647583" cy="2901654"/>
            <a:chOff x="699938" y="1258925"/>
            <a:chExt cx="3479522" cy="633300"/>
          </a:xfrm>
        </p:grpSpPr>
        <p:sp>
          <p:nvSpPr>
            <p:cNvPr id="202" name="Google Shape;202;p29"/>
            <p:cNvSpPr/>
            <p:nvPr/>
          </p:nvSpPr>
          <p:spPr>
            <a:xfrm>
              <a:off x="699938" y="1258925"/>
              <a:ext cx="2683500" cy="633300"/>
            </a:xfrm>
            <a:prstGeom prst="roundRect">
              <a:avLst>
                <a:gd fmla="val 16667" name="adj"/>
              </a:avLst>
            </a:prstGeom>
            <a:solidFill>
              <a:schemeClr val="lt2"/>
            </a:solidFill>
            <a:ln cap="flat" cmpd="sng" w="15075">
              <a:solidFill>
                <a:schemeClr val="dk2"/>
              </a:solidFill>
              <a:prstDash val="solid"/>
              <a:round/>
              <a:headEnd len="sm" w="sm" type="none"/>
              <a:tailEnd len="sm" w="sm" type="none"/>
            </a:ln>
          </p:spPr>
          <p:txBody>
            <a:bodyPr anchorCtr="0" anchor="ctr" bIns="144575" lIns="144575" spcFirstLastPara="1" rIns="144575" wrap="square" tIns="144575">
              <a:noAutofit/>
            </a:bodyPr>
            <a:lstStyle/>
            <a:p>
              <a:pPr indent="0" lvl="0" marL="0" rtl="0" algn="l">
                <a:spcBef>
                  <a:spcPts val="0"/>
                </a:spcBef>
                <a:spcAft>
                  <a:spcPts val="0"/>
                </a:spcAft>
                <a:buNone/>
              </a:pPr>
              <a:r>
                <a:t/>
              </a:r>
              <a:endParaRPr sz="2213">
                <a:solidFill>
                  <a:schemeClr val="lt1"/>
                </a:solidFill>
                <a:latin typeface="Proxima Nova"/>
                <a:ea typeface="Proxima Nova"/>
                <a:cs typeface="Proxima Nova"/>
                <a:sym typeface="Proxima Nova"/>
              </a:endParaRPr>
            </a:p>
          </p:txBody>
        </p:sp>
        <p:sp>
          <p:nvSpPr>
            <p:cNvPr id="203" name="Google Shape;203;p29"/>
            <p:cNvSpPr/>
            <p:nvPr/>
          </p:nvSpPr>
          <p:spPr>
            <a:xfrm>
              <a:off x="765459" y="1258925"/>
              <a:ext cx="3414000" cy="633300"/>
            </a:xfrm>
            <a:prstGeom prst="roundRect">
              <a:avLst>
                <a:gd fmla="val 16667" name="adj"/>
              </a:avLst>
            </a:prstGeom>
            <a:solidFill>
              <a:srgbClr val="202729"/>
            </a:solidFill>
            <a:ln cap="flat" cmpd="sng" w="15075">
              <a:solidFill>
                <a:schemeClr val="dk2"/>
              </a:solidFill>
              <a:prstDash val="solid"/>
              <a:round/>
              <a:headEnd len="sm" w="sm" type="none"/>
              <a:tailEnd len="sm" w="sm" type="none"/>
            </a:ln>
          </p:spPr>
          <p:txBody>
            <a:bodyPr anchorCtr="0" anchor="ctr" bIns="144575" lIns="144575" spcFirstLastPara="1" rIns="144575" wrap="square" tIns="144575">
              <a:noAutofit/>
            </a:bodyPr>
            <a:lstStyle/>
            <a:p>
              <a:pPr indent="0" lvl="0" marL="0" rtl="0" algn="ctr">
                <a:spcBef>
                  <a:spcPts val="0"/>
                </a:spcBef>
                <a:spcAft>
                  <a:spcPts val="0"/>
                </a:spcAft>
                <a:buNone/>
              </a:pPr>
              <a:r>
                <a:t/>
              </a:r>
              <a:endParaRPr sz="2213">
                <a:latin typeface="Proxima Nova"/>
                <a:ea typeface="Proxima Nova"/>
                <a:cs typeface="Proxima Nova"/>
                <a:sym typeface="Proxima Nova"/>
              </a:endParaRPr>
            </a:p>
          </p:txBody>
        </p:sp>
      </p:grpSp>
      <p:sp>
        <p:nvSpPr>
          <p:cNvPr id="204" name="Google Shape;204;p29"/>
          <p:cNvSpPr txBox="1"/>
          <p:nvPr/>
        </p:nvSpPr>
        <p:spPr>
          <a:xfrm>
            <a:off x="5095814" y="1096988"/>
            <a:ext cx="17625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lt1"/>
                </a:solidFill>
                <a:latin typeface="Calibri"/>
                <a:ea typeface="Calibri"/>
                <a:cs typeface="Calibri"/>
                <a:sym typeface="Calibri"/>
              </a:rPr>
              <a:t>Example</a:t>
            </a:r>
            <a:endParaRPr b="1" sz="1300">
              <a:solidFill>
                <a:schemeClr val="lt1"/>
              </a:solidFill>
              <a:latin typeface="Calibri"/>
              <a:ea typeface="Calibri"/>
              <a:cs typeface="Calibri"/>
              <a:sym typeface="Calibri"/>
            </a:endParaRPr>
          </a:p>
        </p:txBody>
      </p:sp>
      <p:sp>
        <p:nvSpPr>
          <p:cNvPr id="205" name="Google Shape;205;p29"/>
          <p:cNvSpPr txBox="1"/>
          <p:nvPr/>
        </p:nvSpPr>
        <p:spPr>
          <a:xfrm>
            <a:off x="5001563" y="1583513"/>
            <a:ext cx="3294900" cy="13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Calibri"/>
                <a:ea typeface="Calibri"/>
                <a:cs typeface="Calibri"/>
                <a:sym typeface="Calibri"/>
              </a:rPr>
              <a:t>The sentence “ChatGPT is amazing!” becomes</a:t>
            </a:r>
            <a:endParaRPr sz="1100">
              <a:solidFill>
                <a:schemeClr val="lt1"/>
              </a:solidFill>
              <a:latin typeface="Calibri"/>
              <a:ea typeface="Calibri"/>
              <a:cs typeface="Calibri"/>
              <a:sym typeface="Calibri"/>
            </a:endParaRPr>
          </a:p>
          <a:p>
            <a:pPr indent="0" lvl="0" marL="0" rtl="0" algn="l">
              <a:spcBef>
                <a:spcPts val="0"/>
              </a:spcBef>
              <a:spcAft>
                <a:spcPts val="0"/>
              </a:spcAft>
              <a:buNone/>
            </a:pPr>
            <a:r>
              <a:rPr lang="en-GB" sz="1100">
                <a:solidFill>
                  <a:schemeClr val="lt1"/>
                </a:solidFill>
                <a:latin typeface="Calibri"/>
                <a:ea typeface="Calibri"/>
                <a:cs typeface="Calibri"/>
                <a:sym typeface="Calibri"/>
              </a:rPr>
              <a:t>["Chat", "G", "PT", " is", " amazing", "!"]</a:t>
            </a:r>
            <a:endParaRPr sz="1100">
              <a:solidFill>
                <a:schemeClr val="lt1"/>
              </a:solidFill>
              <a:latin typeface="Calibri"/>
              <a:ea typeface="Calibri"/>
              <a:cs typeface="Calibri"/>
              <a:sym typeface="Calibri"/>
            </a:endParaRPr>
          </a:p>
          <a:p>
            <a:pPr indent="0" lvl="0" marL="0" rtl="0" algn="l">
              <a:spcBef>
                <a:spcPts val="0"/>
              </a:spcBef>
              <a:spcAft>
                <a:spcPts val="0"/>
              </a:spcAft>
              <a:buNone/>
            </a:pPr>
            <a:r>
              <a:rPr lang="en-GB" sz="1100">
                <a:solidFill>
                  <a:schemeClr val="lt1"/>
                </a:solidFill>
                <a:latin typeface="Calibri"/>
                <a:ea typeface="Calibri"/>
                <a:cs typeface="Calibri"/>
                <a:sym typeface="Calibri"/>
              </a:rPr>
              <a:t>via subword tokenization, showing how even complex or unfamiliar words are broken into meaningful parts.</a:t>
            </a:r>
            <a:endParaRPr sz="1100">
              <a:solidFill>
                <a:schemeClr val="lt1"/>
              </a:solidFill>
              <a:latin typeface="Calibri"/>
              <a:ea typeface="Calibri"/>
              <a:cs typeface="Calibri"/>
              <a:sym typeface="Calibri"/>
            </a:endParaRPr>
          </a:p>
        </p:txBody>
      </p:sp>
      <p:sp>
        <p:nvSpPr>
          <p:cNvPr id="206" name="Google Shape;206;p29"/>
          <p:cNvSpPr txBox="1"/>
          <p:nvPr/>
        </p:nvSpPr>
        <p:spPr>
          <a:xfrm>
            <a:off x="4910438" y="2839713"/>
            <a:ext cx="3294900" cy="132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"Chat" stays as "Chat"</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"GPT" splits into "G" and "PT"</a:t>
            </a:r>
            <a:endParaRPr sz="1100">
              <a:solidFill>
                <a:schemeClr val="lt1"/>
              </a:solidFill>
              <a:latin typeface="Calibri"/>
              <a:ea typeface="Calibri"/>
              <a:cs typeface="Calibri"/>
              <a:sym typeface="Calibri"/>
            </a:endParaRPr>
          </a:p>
          <a:p>
            <a:pPr indent="-298450" lvl="0" marL="457200" rtl="0" algn="l">
              <a:spcBef>
                <a:spcPts val="0"/>
              </a:spcBef>
              <a:spcAft>
                <a:spcPts val="0"/>
              </a:spcAft>
              <a:buClr>
                <a:schemeClr val="lt1"/>
              </a:buClr>
              <a:buSzPts val="1100"/>
              <a:buFont typeface="Calibri"/>
              <a:buChar char="●"/>
            </a:pPr>
            <a:r>
              <a:rPr lang="en-GB" sz="1100">
                <a:solidFill>
                  <a:schemeClr val="lt1"/>
                </a:solidFill>
                <a:latin typeface="Calibri"/>
                <a:ea typeface="Calibri"/>
                <a:cs typeface="Calibri"/>
                <a:sym typeface="Calibri"/>
              </a:rPr>
              <a:t>Semantic meaning is preserved through subword units</a:t>
            </a:r>
            <a:endParaRPr sz="11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p:txBody>
      </p:sp>
      <p:sp>
        <p:nvSpPr>
          <p:cNvPr id="207" name="Google Shape;207;p29"/>
          <p:cNvSpPr txBox="1"/>
          <p:nvPr/>
        </p:nvSpPr>
        <p:spPr>
          <a:xfrm>
            <a:off x="1728738" y="4162425"/>
            <a:ext cx="5715000" cy="5817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rPr b="1" lang="en-GB" sz="1200">
                <a:solidFill>
                  <a:schemeClr val="lt1"/>
                </a:solidFill>
                <a:latin typeface="Calibri"/>
                <a:ea typeface="Calibri"/>
                <a:cs typeface="Calibri"/>
                <a:sym typeface="Calibri"/>
              </a:rPr>
              <a:t>Note: Actual token splits may vary depending on the model and tokenizer used (e.g., GPT-2, GPT-4, LLaMA, etc.)</a:t>
            </a:r>
            <a:endParaRPr b="1" sz="12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729"/>
        </a:solidFill>
      </p:bgPr>
    </p:bg>
    <p:spTree>
      <p:nvGrpSpPr>
        <p:cNvPr id="211" name="Shape 211"/>
        <p:cNvGrpSpPr/>
        <p:nvPr/>
      </p:nvGrpSpPr>
      <p:grpSpPr>
        <a:xfrm>
          <a:off x="0" y="0"/>
          <a:ext cx="0" cy="0"/>
          <a:chOff x="0" y="0"/>
          <a:chExt cx="0" cy="0"/>
        </a:xfrm>
      </p:grpSpPr>
      <p:sp>
        <p:nvSpPr>
          <p:cNvPr id="212" name="Google Shape;212;p30"/>
          <p:cNvSpPr txBox="1"/>
          <p:nvPr/>
        </p:nvSpPr>
        <p:spPr>
          <a:xfrm>
            <a:off x="2906850" y="-33975"/>
            <a:ext cx="3330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lt1"/>
                </a:solidFill>
              </a:rPr>
              <a:t>Proprietary vs Open-Source LLMs</a:t>
            </a:r>
            <a:endParaRPr b="1" sz="1500">
              <a:solidFill>
                <a:schemeClr val="lt1"/>
              </a:solidFill>
            </a:endParaRPr>
          </a:p>
        </p:txBody>
      </p:sp>
      <p:cxnSp>
        <p:nvCxnSpPr>
          <p:cNvPr id="213" name="Google Shape;213;p30"/>
          <p:cNvCxnSpPr/>
          <p:nvPr/>
        </p:nvCxnSpPr>
        <p:spPr>
          <a:xfrm>
            <a:off x="3025150" y="358150"/>
            <a:ext cx="3040500" cy="0"/>
          </a:xfrm>
          <a:prstGeom prst="straightConnector1">
            <a:avLst/>
          </a:prstGeom>
          <a:noFill/>
          <a:ln cap="flat" cmpd="sng" w="9525">
            <a:solidFill>
              <a:schemeClr val="dk2"/>
            </a:solidFill>
            <a:prstDash val="solid"/>
            <a:round/>
            <a:headEnd len="med" w="med" type="none"/>
            <a:tailEnd len="med" w="med" type="none"/>
          </a:ln>
        </p:spPr>
      </p:cxnSp>
      <p:sp>
        <p:nvSpPr>
          <p:cNvPr id="214" name="Google Shape;214;p30"/>
          <p:cNvSpPr txBox="1"/>
          <p:nvPr/>
        </p:nvSpPr>
        <p:spPr>
          <a:xfrm>
            <a:off x="4411785" y="959888"/>
            <a:ext cx="15315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F1C232"/>
                </a:solidFill>
                <a:latin typeface="Calibri"/>
                <a:ea typeface="Calibri"/>
                <a:cs typeface="Calibri"/>
                <a:sym typeface="Calibri"/>
              </a:rPr>
              <a:t>Proprietary LLMs</a:t>
            </a:r>
            <a:endParaRPr b="1" sz="1100">
              <a:solidFill>
                <a:srgbClr val="F1C232"/>
              </a:solidFill>
              <a:latin typeface="Calibri"/>
              <a:ea typeface="Calibri"/>
              <a:cs typeface="Calibri"/>
              <a:sym typeface="Calibri"/>
            </a:endParaRPr>
          </a:p>
        </p:txBody>
      </p:sp>
      <p:sp>
        <p:nvSpPr>
          <p:cNvPr id="215" name="Google Shape;215;p30"/>
          <p:cNvSpPr txBox="1"/>
          <p:nvPr/>
        </p:nvSpPr>
        <p:spPr>
          <a:xfrm>
            <a:off x="4411801" y="1280675"/>
            <a:ext cx="3452100" cy="12102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rgbClr val="FFFFFF"/>
              </a:buClr>
              <a:buSzPts val="1000"/>
              <a:buFont typeface="Calibri"/>
              <a:buChar char="●"/>
            </a:pPr>
            <a:r>
              <a:rPr lang="en-GB" sz="1000">
                <a:solidFill>
                  <a:srgbClr val="FFFFFF"/>
                </a:solidFill>
                <a:latin typeface="Calibri"/>
                <a:ea typeface="Calibri"/>
                <a:cs typeface="Calibri"/>
                <a:sym typeface="Calibri"/>
              </a:rPr>
              <a:t>OpenAI - GPT-3, GPT-4, GPT-5, GPT-o4</a:t>
            </a:r>
            <a:endParaRPr sz="1000">
              <a:solidFill>
                <a:srgbClr val="FFFFFF"/>
              </a:solidFill>
              <a:latin typeface="Calibri"/>
              <a:ea typeface="Calibri"/>
              <a:cs typeface="Calibri"/>
              <a:sym typeface="Calibri"/>
            </a:endParaRPr>
          </a:p>
          <a:p>
            <a:pPr indent="-292100" lvl="0" marL="457200" rtl="0" algn="l">
              <a:spcBef>
                <a:spcPts val="0"/>
              </a:spcBef>
              <a:spcAft>
                <a:spcPts val="0"/>
              </a:spcAft>
              <a:buClr>
                <a:srgbClr val="FFFFFF"/>
              </a:buClr>
              <a:buSzPts val="1000"/>
              <a:buFont typeface="Calibri"/>
              <a:buChar char="●"/>
            </a:pPr>
            <a:r>
              <a:rPr lang="en-GB" sz="1000">
                <a:solidFill>
                  <a:srgbClr val="FFFFFF"/>
                </a:solidFill>
                <a:latin typeface="Calibri"/>
                <a:ea typeface="Calibri"/>
                <a:cs typeface="Calibri"/>
                <a:sym typeface="Calibri"/>
              </a:rPr>
              <a:t>Google - Gemini-2.5</a:t>
            </a:r>
            <a:endParaRPr sz="1000">
              <a:solidFill>
                <a:srgbClr val="FFFFFF"/>
              </a:solidFill>
              <a:latin typeface="Calibri"/>
              <a:ea typeface="Calibri"/>
              <a:cs typeface="Calibri"/>
              <a:sym typeface="Calibri"/>
            </a:endParaRPr>
          </a:p>
          <a:p>
            <a:pPr indent="-292100" lvl="0" marL="457200" rtl="0" algn="l">
              <a:spcBef>
                <a:spcPts val="0"/>
              </a:spcBef>
              <a:spcAft>
                <a:spcPts val="0"/>
              </a:spcAft>
              <a:buClr>
                <a:srgbClr val="FFFFFF"/>
              </a:buClr>
              <a:buSzPts val="1000"/>
              <a:buFont typeface="Calibri"/>
              <a:buChar char="●"/>
            </a:pPr>
            <a:r>
              <a:rPr lang="en-GB" sz="1000">
                <a:solidFill>
                  <a:srgbClr val="FFFFFF"/>
                </a:solidFill>
                <a:latin typeface="Calibri"/>
                <a:ea typeface="Calibri"/>
                <a:cs typeface="Calibri"/>
                <a:sym typeface="Calibri"/>
              </a:rPr>
              <a:t>Anthropic - Claude Opus 4.1, Claude Sonnet 4</a:t>
            </a:r>
            <a:endParaRPr sz="1000">
              <a:solidFill>
                <a:srgbClr val="FFFFFF"/>
              </a:solidFill>
              <a:latin typeface="Calibri"/>
              <a:ea typeface="Calibri"/>
              <a:cs typeface="Calibri"/>
              <a:sym typeface="Calibri"/>
            </a:endParaRPr>
          </a:p>
        </p:txBody>
      </p:sp>
      <p:sp>
        <p:nvSpPr>
          <p:cNvPr id="216" name="Google Shape;216;p30"/>
          <p:cNvSpPr txBox="1"/>
          <p:nvPr/>
        </p:nvSpPr>
        <p:spPr>
          <a:xfrm>
            <a:off x="1784923" y="3066925"/>
            <a:ext cx="15315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F1C232"/>
                </a:solidFill>
                <a:latin typeface="Calibri"/>
                <a:ea typeface="Calibri"/>
                <a:cs typeface="Calibri"/>
                <a:sym typeface="Calibri"/>
              </a:rPr>
              <a:t>Open-Source LLMs</a:t>
            </a:r>
            <a:endParaRPr b="1" sz="1100">
              <a:solidFill>
                <a:srgbClr val="F1C232"/>
              </a:solidFill>
              <a:latin typeface="Calibri"/>
              <a:ea typeface="Calibri"/>
              <a:cs typeface="Calibri"/>
              <a:sym typeface="Calibri"/>
            </a:endParaRPr>
          </a:p>
        </p:txBody>
      </p:sp>
      <p:sp>
        <p:nvSpPr>
          <p:cNvPr id="217" name="Google Shape;217;p30"/>
          <p:cNvSpPr txBox="1"/>
          <p:nvPr/>
        </p:nvSpPr>
        <p:spPr>
          <a:xfrm>
            <a:off x="1784925" y="3387725"/>
            <a:ext cx="2787000" cy="12102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Font typeface="Calibri"/>
              <a:buChar char="●"/>
            </a:pPr>
            <a:r>
              <a:rPr lang="en-GB" sz="1000">
                <a:solidFill>
                  <a:schemeClr val="lt1"/>
                </a:solidFill>
                <a:latin typeface="Calibri"/>
                <a:ea typeface="Calibri"/>
                <a:cs typeface="Calibri"/>
                <a:sym typeface="Calibri"/>
              </a:rPr>
              <a:t>Meta - Llama-2, Llama-3</a:t>
            </a:r>
            <a:endParaRPr sz="1000">
              <a:solidFill>
                <a:schemeClr val="lt1"/>
              </a:solidFill>
              <a:latin typeface="Calibri"/>
              <a:ea typeface="Calibri"/>
              <a:cs typeface="Calibri"/>
              <a:sym typeface="Calibri"/>
            </a:endParaRPr>
          </a:p>
          <a:p>
            <a:pPr indent="-292100" lvl="0" marL="457200" rtl="0" algn="l">
              <a:spcBef>
                <a:spcPts val="0"/>
              </a:spcBef>
              <a:spcAft>
                <a:spcPts val="0"/>
              </a:spcAft>
              <a:buClr>
                <a:schemeClr val="lt1"/>
              </a:buClr>
              <a:buSzPts val="1000"/>
              <a:buFont typeface="Calibri"/>
              <a:buChar char="●"/>
            </a:pPr>
            <a:r>
              <a:rPr lang="en-GB" sz="1000">
                <a:solidFill>
                  <a:schemeClr val="lt1"/>
                </a:solidFill>
                <a:latin typeface="Calibri"/>
                <a:ea typeface="Calibri"/>
                <a:cs typeface="Calibri"/>
                <a:sym typeface="Calibri"/>
              </a:rPr>
              <a:t>Google - Gemma-2, Gemma-3</a:t>
            </a:r>
            <a:endParaRPr sz="1000">
              <a:solidFill>
                <a:schemeClr val="lt1"/>
              </a:solidFill>
              <a:latin typeface="Calibri"/>
              <a:ea typeface="Calibri"/>
              <a:cs typeface="Calibri"/>
              <a:sym typeface="Calibri"/>
            </a:endParaRPr>
          </a:p>
          <a:p>
            <a:pPr indent="-292100" lvl="0" marL="457200" rtl="0" algn="l">
              <a:spcBef>
                <a:spcPts val="0"/>
              </a:spcBef>
              <a:spcAft>
                <a:spcPts val="0"/>
              </a:spcAft>
              <a:buClr>
                <a:schemeClr val="lt1"/>
              </a:buClr>
              <a:buSzPts val="1000"/>
              <a:buFont typeface="Calibri"/>
              <a:buChar char="●"/>
            </a:pPr>
            <a:r>
              <a:rPr lang="en-GB" sz="1000">
                <a:solidFill>
                  <a:schemeClr val="lt1"/>
                </a:solidFill>
                <a:latin typeface="Calibri"/>
                <a:ea typeface="Calibri"/>
                <a:cs typeface="Calibri"/>
                <a:sym typeface="Calibri"/>
              </a:rPr>
              <a:t>OpenAI - GPT-oss</a:t>
            </a:r>
            <a:endParaRPr sz="1000">
              <a:solidFill>
                <a:schemeClr val="lt1"/>
              </a:solidFill>
              <a:latin typeface="Calibri"/>
              <a:ea typeface="Calibri"/>
              <a:cs typeface="Calibri"/>
              <a:sym typeface="Calibri"/>
            </a:endParaRPr>
          </a:p>
          <a:p>
            <a:pPr indent="-292100" lvl="0" marL="457200" rtl="0" algn="l">
              <a:spcBef>
                <a:spcPts val="0"/>
              </a:spcBef>
              <a:spcAft>
                <a:spcPts val="0"/>
              </a:spcAft>
              <a:buClr>
                <a:schemeClr val="lt1"/>
              </a:buClr>
              <a:buSzPts val="1000"/>
              <a:buFont typeface="Calibri"/>
              <a:buChar char="●"/>
            </a:pPr>
            <a:r>
              <a:rPr lang="en-GB" sz="1000">
                <a:solidFill>
                  <a:schemeClr val="lt1"/>
                </a:solidFill>
                <a:latin typeface="Calibri"/>
                <a:ea typeface="Calibri"/>
                <a:cs typeface="Calibri"/>
                <a:sym typeface="Calibri"/>
              </a:rPr>
              <a:t>DeepSeek</a:t>
            </a:r>
            <a:endParaRPr sz="1000">
              <a:solidFill>
                <a:schemeClr val="lt1"/>
              </a:solidFill>
              <a:latin typeface="Calibri"/>
              <a:ea typeface="Calibri"/>
              <a:cs typeface="Calibri"/>
              <a:sym typeface="Calibri"/>
            </a:endParaRPr>
          </a:p>
          <a:p>
            <a:pPr indent="0" lvl="0" marL="0" rtl="0" algn="l">
              <a:spcBef>
                <a:spcPts val="0"/>
              </a:spcBef>
              <a:spcAft>
                <a:spcPts val="0"/>
              </a:spcAft>
              <a:buNone/>
            </a:pPr>
            <a:r>
              <a:t/>
            </a:r>
            <a:endParaRPr sz="1000">
              <a:solidFill>
                <a:srgbClr val="FFFFFF"/>
              </a:solidFill>
              <a:latin typeface="Calibri"/>
              <a:ea typeface="Calibri"/>
              <a:cs typeface="Calibri"/>
              <a:sym typeface="Calibri"/>
            </a:endParaRPr>
          </a:p>
        </p:txBody>
      </p:sp>
      <p:cxnSp>
        <p:nvCxnSpPr>
          <p:cNvPr id="218" name="Google Shape;218;p30"/>
          <p:cNvCxnSpPr/>
          <p:nvPr/>
        </p:nvCxnSpPr>
        <p:spPr>
          <a:xfrm>
            <a:off x="4507475" y="832025"/>
            <a:ext cx="450300" cy="0"/>
          </a:xfrm>
          <a:prstGeom prst="straightConnector1">
            <a:avLst/>
          </a:prstGeom>
          <a:noFill/>
          <a:ln cap="flat" cmpd="sng" w="28575">
            <a:solidFill>
              <a:srgbClr val="4BA173"/>
            </a:solidFill>
            <a:prstDash val="solid"/>
            <a:round/>
            <a:headEnd len="med" w="med" type="none"/>
            <a:tailEnd len="med" w="med" type="none"/>
          </a:ln>
        </p:spPr>
      </p:cxnSp>
      <p:cxnSp>
        <p:nvCxnSpPr>
          <p:cNvPr id="219" name="Google Shape;219;p30"/>
          <p:cNvCxnSpPr/>
          <p:nvPr/>
        </p:nvCxnSpPr>
        <p:spPr>
          <a:xfrm>
            <a:off x="1876975" y="2941375"/>
            <a:ext cx="450300" cy="0"/>
          </a:xfrm>
          <a:prstGeom prst="straightConnector1">
            <a:avLst/>
          </a:prstGeom>
          <a:noFill/>
          <a:ln cap="flat" cmpd="sng" w="28575">
            <a:solidFill>
              <a:srgbClr val="4BA173"/>
            </a:solidFill>
            <a:prstDash val="solid"/>
            <a:round/>
            <a:headEnd len="med" w="med" type="none"/>
            <a:tailEnd len="med" w="med" type="none"/>
          </a:ln>
        </p:spPr>
      </p:cxnSp>
      <p:pic>
        <p:nvPicPr>
          <p:cNvPr id="220" name="Google Shape;220;p30"/>
          <p:cNvPicPr preferRelativeResize="0"/>
          <p:nvPr/>
        </p:nvPicPr>
        <p:blipFill>
          <a:blip r:embed="rId3">
            <a:alphaModFix/>
          </a:blip>
          <a:stretch>
            <a:fillRect/>
          </a:stretch>
        </p:blipFill>
        <p:spPr>
          <a:xfrm>
            <a:off x="1876975" y="832025"/>
            <a:ext cx="1130126" cy="1130126"/>
          </a:xfrm>
          <a:prstGeom prst="rect">
            <a:avLst/>
          </a:prstGeom>
          <a:noFill/>
          <a:ln>
            <a:noFill/>
          </a:ln>
        </p:spPr>
      </p:pic>
      <p:pic>
        <p:nvPicPr>
          <p:cNvPr id="221" name="Google Shape;221;p30"/>
          <p:cNvPicPr preferRelativeResize="0"/>
          <p:nvPr/>
        </p:nvPicPr>
        <p:blipFill>
          <a:blip r:embed="rId4">
            <a:alphaModFix/>
          </a:blip>
          <a:stretch>
            <a:fillRect/>
          </a:stretch>
        </p:blipFill>
        <p:spPr>
          <a:xfrm>
            <a:off x="5178300" y="3066925"/>
            <a:ext cx="1130125" cy="1130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