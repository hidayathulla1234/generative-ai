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</p:sldIdLst>
  <p:sldSz cy="5143500" cx="9144000"/>
  <p:notesSz cx="6858000" cy="9144000"/>
  <p:embeddedFontLst>
    <p:embeddedFont>
      <p:font typeface="Proxima Nova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ProximaNova-regular.fntdata"/><Relationship Id="rId10" Type="http://schemas.openxmlformats.org/officeDocument/2006/relationships/slide" Target="slides/slide4.xml"/><Relationship Id="rId13" Type="http://schemas.openxmlformats.org/officeDocument/2006/relationships/font" Target="fonts/ProximaNova-italic.fntdata"/><Relationship Id="rId12" Type="http://schemas.openxmlformats.org/officeDocument/2006/relationships/font" Target="fonts/ProximaNova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font" Target="fonts/ProximaNova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751196b11d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751196b11d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751196b11d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751196b11d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751196b11d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751196b11d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751196b11d_0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751196b11d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Google Shape;55;p14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" name="Google Shape;56;p14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Google Shape;60;p15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" name="Google Shape;61;p15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2" name="Google Shape;62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1" name="Google Shape;71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2" name="Google Shape;72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" name="Google Shape;75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9" name="Google Shape;79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0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2" name="Google Shape;82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1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5" name="Google Shape;85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" name="Google Shape;86;p21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7" name="Google Shape;87;p21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8" name="Google Shape;88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92" name="Google Shape;9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3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3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96" name="Google Shape;96;p23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5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720"/>
              <a:t>Section 2: Generative AI Foundation</a:t>
            </a:r>
            <a:endParaRPr sz="3720"/>
          </a:p>
        </p:txBody>
      </p:sp>
      <p:sp>
        <p:nvSpPr>
          <p:cNvPr id="105" name="Google Shape;105;p25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Understanding the Core Concepts 🧠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6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720"/>
              <a:t>2.1. AI vs ML vs DL vs Generative AI</a:t>
            </a:r>
            <a:endParaRPr sz="372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02729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/>
          <p:nvPr/>
        </p:nvSpPr>
        <p:spPr>
          <a:xfrm>
            <a:off x="3182100" y="-33975"/>
            <a:ext cx="277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lt1"/>
                </a:solidFill>
              </a:rPr>
              <a:t>Understanding AI Hierarchy</a:t>
            </a:r>
            <a:endParaRPr b="1" sz="1500">
              <a:solidFill>
                <a:schemeClr val="lt1"/>
              </a:solidFill>
            </a:endParaRPr>
          </a:p>
        </p:txBody>
      </p:sp>
      <p:grpSp>
        <p:nvGrpSpPr>
          <p:cNvPr id="116" name="Google Shape;116;p27"/>
          <p:cNvGrpSpPr/>
          <p:nvPr/>
        </p:nvGrpSpPr>
        <p:grpSpPr>
          <a:xfrm>
            <a:off x="380400" y="788850"/>
            <a:ext cx="3663000" cy="3565800"/>
            <a:chOff x="362750" y="856150"/>
            <a:chExt cx="3663000" cy="3565800"/>
          </a:xfrm>
        </p:grpSpPr>
        <p:sp>
          <p:nvSpPr>
            <p:cNvPr id="117" name="Google Shape;117;p27"/>
            <p:cNvSpPr/>
            <p:nvPr/>
          </p:nvSpPr>
          <p:spPr>
            <a:xfrm>
              <a:off x="362750" y="856150"/>
              <a:ext cx="3663000" cy="35658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118" name="Google Shape;118;p27"/>
            <p:cNvSpPr/>
            <p:nvPr/>
          </p:nvSpPr>
          <p:spPr>
            <a:xfrm>
              <a:off x="575600" y="1518250"/>
              <a:ext cx="3237300" cy="29037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119" name="Google Shape;119;p27"/>
            <p:cNvSpPr/>
            <p:nvPr/>
          </p:nvSpPr>
          <p:spPr>
            <a:xfrm>
              <a:off x="931850" y="2100550"/>
              <a:ext cx="2524800" cy="23214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120" name="Google Shape;120;p27"/>
            <p:cNvSpPr/>
            <p:nvPr/>
          </p:nvSpPr>
          <p:spPr>
            <a:xfrm>
              <a:off x="1339100" y="2835550"/>
              <a:ext cx="1710300" cy="15864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121" name="Google Shape;121;p27"/>
            <p:cNvSpPr txBox="1"/>
            <p:nvPr/>
          </p:nvSpPr>
          <p:spPr>
            <a:xfrm>
              <a:off x="1330400" y="997375"/>
              <a:ext cx="1880100" cy="36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500">
                  <a:solidFill>
                    <a:srgbClr val="202729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Artificial Intelligence</a:t>
              </a:r>
              <a:endParaRPr sz="15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122" name="Google Shape;122;p27"/>
            <p:cNvSpPr txBox="1"/>
            <p:nvPr/>
          </p:nvSpPr>
          <p:spPr>
            <a:xfrm>
              <a:off x="1339100" y="1684950"/>
              <a:ext cx="1710300" cy="36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500">
                  <a:solidFill>
                    <a:srgbClr val="202729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Machine Learning</a:t>
              </a:r>
              <a:endParaRPr sz="15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123" name="Google Shape;123;p27"/>
            <p:cNvSpPr txBox="1"/>
            <p:nvPr/>
          </p:nvSpPr>
          <p:spPr>
            <a:xfrm>
              <a:off x="1481600" y="2375750"/>
              <a:ext cx="1577700" cy="36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500">
                  <a:solidFill>
                    <a:srgbClr val="202729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Deep</a:t>
              </a:r>
              <a:r>
                <a:rPr lang="en-GB" sz="1500">
                  <a:solidFill>
                    <a:srgbClr val="202729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 Learning</a:t>
              </a:r>
              <a:endParaRPr sz="15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124" name="Google Shape;124;p27"/>
            <p:cNvSpPr txBox="1"/>
            <p:nvPr/>
          </p:nvSpPr>
          <p:spPr>
            <a:xfrm>
              <a:off x="1490900" y="3447850"/>
              <a:ext cx="1406700" cy="36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500">
                  <a:solidFill>
                    <a:srgbClr val="202729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Generative AI</a:t>
              </a:r>
              <a:endParaRPr sz="15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sp>
        <p:nvSpPr>
          <p:cNvPr id="125" name="Google Shape;125;p27"/>
          <p:cNvSpPr txBox="1"/>
          <p:nvPr/>
        </p:nvSpPr>
        <p:spPr>
          <a:xfrm>
            <a:off x="5227900" y="1633938"/>
            <a:ext cx="3521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📊Machine Learning (ML)</a:t>
            </a:r>
            <a:endParaRPr b="1" sz="12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→ AI that learns patterns from data to make predictions.</a:t>
            </a:r>
            <a:endParaRPr sz="12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6" name="Google Shape;126;p27"/>
          <p:cNvSpPr txBox="1"/>
          <p:nvPr/>
        </p:nvSpPr>
        <p:spPr>
          <a:xfrm>
            <a:off x="5227900" y="2640225"/>
            <a:ext cx="3521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🧠Deep Learning (DL)</a:t>
            </a:r>
            <a:endParaRPr b="1" sz="12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→ ML using multi-layered neural networks for complex tasks.</a:t>
            </a:r>
            <a:endParaRPr sz="12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7" name="Google Shape;127;p27"/>
          <p:cNvSpPr txBox="1"/>
          <p:nvPr/>
        </p:nvSpPr>
        <p:spPr>
          <a:xfrm>
            <a:off x="5227900" y="3626400"/>
            <a:ext cx="3521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🎨Generative AI (GenAI)</a:t>
            </a:r>
            <a:endParaRPr b="1" sz="12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→ AI that creates new content like text, images, and music.</a:t>
            </a:r>
            <a:endParaRPr sz="12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8" name="Google Shape;128;p27"/>
          <p:cNvSpPr txBox="1"/>
          <p:nvPr/>
        </p:nvSpPr>
        <p:spPr>
          <a:xfrm>
            <a:off x="5227900" y="778200"/>
            <a:ext cx="3521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🤖</a:t>
            </a:r>
            <a:r>
              <a:rPr b="1" lang="en-GB" sz="12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Artificial Intelligence (AI)</a:t>
            </a:r>
            <a:endParaRPr b="1" sz="12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→ The science of making machines act smart, like humans.</a:t>
            </a:r>
            <a:endParaRPr sz="12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129" name="Google Shape;129;p27"/>
          <p:cNvCxnSpPr/>
          <p:nvPr/>
        </p:nvCxnSpPr>
        <p:spPr>
          <a:xfrm>
            <a:off x="3301025" y="397175"/>
            <a:ext cx="2506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02729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8"/>
          <p:cNvSpPr txBox="1"/>
          <p:nvPr/>
        </p:nvSpPr>
        <p:spPr>
          <a:xfrm>
            <a:off x="3506400" y="-33975"/>
            <a:ext cx="2131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lt1"/>
                </a:solidFill>
              </a:rPr>
              <a:t>Real-World Examples</a:t>
            </a:r>
            <a:endParaRPr b="1" sz="1500">
              <a:solidFill>
                <a:schemeClr val="lt1"/>
              </a:solidFill>
            </a:endParaRPr>
          </a:p>
        </p:txBody>
      </p:sp>
      <p:sp>
        <p:nvSpPr>
          <p:cNvPr id="135" name="Google Shape;135;p28"/>
          <p:cNvSpPr txBox="1"/>
          <p:nvPr/>
        </p:nvSpPr>
        <p:spPr>
          <a:xfrm>
            <a:off x="2526900" y="1389825"/>
            <a:ext cx="2077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📊Machine Learning (ML)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8"/>
          <p:cNvSpPr txBox="1"/>
          <p:nvPr/>
        </p:nvSpPr>
        <p:spPr>
          <a:xfrm>
            <a:off x="4858950" y="1389825"/>
            <a:ext cx="1767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🧠Deep Learning (DL)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8"/>
          <p:cNvSpPr txBox="1"/>
          <p:nvPr/>
        </p:nvSpPr>
        <p:spPr>
          <a:xfrm>
            <a:off x="6957300" y="1389825"/>
            <a:ext cx="2131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🎨Generative AI (GenAI)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28"/>
          <p:cNvSpPr txBox="1"/>
          <p:nvPr/>
        </p:nvSpPr>
        <p:spPr>
          <a:xfrm>
            <a:off x="91650" y="1389825"/>
            <a:ext cx="2181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🤖Artificial Intelligence (AI)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9" name="Google Shape;139;p28"/>
          <p:cNvCxnSpPr/>
          <p:nvPr/>
        </p:nvCxnSpPr>
        <p:spPr>
          <a:xfrm>
            <a:off x="3623325" y="346825"/>
            <a:ext cx="1933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0" name="Google Shape;140;p28"/>
          <p:cNvSpPr txBox="1"/>
          <p:nvPr/>
        </p:nvSpPr>
        <p:spPr>
          <a:xfrm>
            <a:off x="205075" y="1759125"/>
            <a:ext cx="16341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Char char="●"/>
            </a:pPr>
            <a:r>
              <a:rPr lang="en-GB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Siri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Char char="●"/>
            </a:pPr>
            <a:r>
              <a:rPr lang="en-GB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Alexa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Char char="●"/>
            </a:pPr>
            <a:r>
              <a:rPr lang="en-GB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Chess Bot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8"/>
          <p:cNvSpPr txBox="1"/>
          <p:nvPr/>
        </p:nvSpPr>
        <p:spPr>
          <a:xfrm>
            <a:off x="2392125" y="1759125"/>
            <a:ext cx="24303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Char char="●"/>
            </a:pPr>
            <a:r>
              <a:rPr lang="en-GB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Email Spam Filter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Char char="●"/>
            </a:pPr>
            <a:r>
              <a:rPr lang="en-GB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Netflix Recommendations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Char char="●"/>
            </a:pPr>
            <a:r>
              <a:rPr lang="en-GB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Credit Card Fraud Detection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8"/>
          <p:cNvSpPr txBox="1"/>
          <p:nvPr/>
        </p:nvSpPr>
        <p:spPr>
          <a:xfrm>
            <a:off x="4785625" y="1851375"/>
            <a:ext cx="20244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Char char="●"/>
            </a:pPr>
            <a:r>
              <a:rPr lang="en-GB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Face ID Unlock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Char char="●"/>
            </a:pPr>
            <a:r>
              <a:rPr lang="en-GB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Speech-to-text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Char char="●"/>
            </a:pPr>
            <a:r>
              <a:rPr lang="en-GB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Image Classification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8"/>
          <p:cNvSpPr txBox="1"/>
          <p:nvPr/>
        </p:nvSpPr>
        <p:spPr>
          <a:xfrm>
            <a:off x="7031025" y="1759125"/>
            <a:ext cx="16341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Char char="●"/>
            </a:pPr>
            <a:r>
              <a:rPr lang="en-GB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ChatGPT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Char char="●"/>
            </a:pPr>
            <a:r>
              <a:rPr lang="en-GB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GitHub Copilot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Char char="●"/>
            </a:pPr>
            <a:r>
              <a:rPr lang="en-GB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DALL-E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4" name="Google Shape;14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7363" y="2840875"/>
            <a:ext cx="1114275" cy="111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23925" y="2840875"/>
            <a:ext cx="1114275" cy="111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56387" y="2840875"/>
            <a:ext cx="1114275" cy="111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59988" y="2651625"/>
            <a:ext cx="1492775" cy="149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