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Lst>
  <p:sldSz cy="5143500" cx="9144000"/>
  <p:notesSz cx="6858000" cy="9144000"/>
  <p:embeddedFontLst>
    <p:embeddedFont>
      <p:font typeface="Proxima Nova"/>
      <p:regular r:id="rId12"/>
      <p:bold r:id="rId13"/>
      <p:italic r:id="rId14"/>
      <p:boldItalic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font" Target="fonts/ProximaNova-bold.fntdata"/><Relationship Id="rId12" Type="http://schemas.openxmlformats.org/officeDocument/2006/relationships/font" Target="fonts/ProximaNova-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font" Target="fonts/ProximaNova-boldItalic.fntdata"/><Relationship Id="rId14" Type="http://schemas.openxmlformats.org/officeDocument/2006/relationships/font" Target="fonts/ProximaNova-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787df350a0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787df350a0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78879477be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78879477be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78879477be_2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78879477be_2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78879477be_2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78879477be_2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78879477be_2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78879477be_2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54" name="Shape 54"/>
        <p:cNvGrpSpPr/>
        <p:nvPr/>
      </p:nvGrpSpPr>
      <p:grpSpPr>
        <a:xfrm>
          <a:off x="0" y="0"/>
          <a:ext cx="0" cy="0"/>
          <a:chOff x="0" y="0"/>
          <a:chExt cx="0" cy="0"/>
        </a:xfrm>
      </p:grpSpPr>
      <p:cxnSp>
        <p:nvCxnSpPr>
          <p:cNvPr id="55" name="Google Shape;55;p14"/>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56" name="Google Shape;56;p14"/>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57" name="Google Shape;57;p14"/>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400"/>
              <a:buNone/>
              <a:defRPr sz="2400">
                <a:solidFill>
                  <a:schemeClr val="lt1"/>
                </a:solidFill>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p:txBody>
      </p:sp>
      <p:sp>
        <p:nvSpPr>
          <p:cNvPr id="58" name="Google Shape;58;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59" name="Shape 59"/>
        <p:cNvGrpSpPr/>
        <p:nvPr/>
      </p:nvGrpSpPr>
      <p:grpSpPr>
        <a:xfrm>
          <a:off x="0" y="0"/>
          <a:ext cx="0" cy="0"/>
          <a:chOff x="0" y="0"/>
          <a:chExt cx="0" cy="0"/>
        </a:xfrm>
      </p:grpSpPr>
      <p:cxnSp>
        <p:nvCxnSpPr>
          <p:cNvPr id="60" name="Google Shape;60;p15"/>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61" name="Google Shape;61;p15"/>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2" name="Google Shape;62;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3" name="Shape 63"/>
        <p:cNvGrpSpPr/>
        <p:nvPr/>
      </p:nvGrpSpPr>
      <p:grpSpPr>
        <a:xfrm>
          <a:off x="0" y="0"/>
          <a:ext cx="0" cy="0"/>
          <a:chOff x="0" y="0"/>
          <a:chExt cx="0" cy="0"/>
        </a:xfrm>
      </p:grpSpPr>
      <p:sp>
        <p:nvSpPr>
          <p:cNvPr id="64" name="Google Shape;64;p16"/>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6" name="Google Shape;66;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67" name="Google Shape;67;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8" name="Shape 68"/>
        <p:cNvGrpSpPr/>
        <p:nvPr/>
      </p:nvGrpSpPr>
      <p:grpSpPr>
        <a:xfrm>
          <a:off x="0" y="0"/>
          <a:ext cx="0" cy="0"/>
          <a:chOff x="0" y="0"/>
          <a:chExt cx="0" cy="0"/>
        </a:xfrm>
      </p:grpSpPr>
      <p:sp>
        <p:nvSpPr>
          <p:cNvPr id="69" name="Google Shape;69;p1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0" name="Google Shape;70;p17"/>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1" name="Google Shape;71;p1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2" name="Google Shape;72;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3" name="Shape 73"/>
        <p:cNvGrpSpPr/>
        <p:nvPr/>
      </p:nvGrpSpPr>
      <p:grpSpPr>
        <a:xfrm>
          <a:off x="0" y="0"/>
          <a:ext cx="0" cy="0"/>
          <a:chOff x="0" y="0"/>
          <a:chExt cx="0" cy="0"/>
        </a:xfrm>
      </p:grpSpPr>
      <p:sp>
        <p:nvSpPr>
          <p:cNvPr id="74" name="Google Shape;74;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5" name="Google Shape;75;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6" name="Shape 76"/>
        <p:cNvGrpSpPr/>
        <p:nvPr/>
      </p:nvGrpSpPr>
      <p:grpSpPr>
        <a:xfrm>
          <a:off x="0" y="0"/>
          <a:ext cx="0" cy="0"/>
          <a:chOff x="0" y="0"/>
          <a:chExt cx="0" cy="0"/>
        </a:xfrm>
      </p:grpSpPr>
      <p:sp>
        <p:nvSpPr>
          <p:cNvPr id="77" name="Google Shape;77;p1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8" name="Google Shape;78;p19"/>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9" name="Google Shape;79;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80" name="Shape 80"/>
        <p:cNvGrpSpPr/>
        <p:nvPr/>
      </p:nvGrpSpPr>
      <p:grpSpPr>
        <a:xfrm>
          <a:off x="0" y="0"/>
          <a:ext cx="0" cy="0"/>
          <a:chOff x="0" y="0"/>
          <a:chExt cx="0" cy="0"/>
        </a:xfrm>
      </p:grpSpPr>
      <p:sp>
        <p:nvSpPr>
          <p:cNvPr id="81" name="Google Shape;81;p20"/>
          <p:cNvSpPr txBox="1"/>
          <p:nvPr>
            <p:ph type="title"/>
          </p:nvPr>
        </p:nvSpPr>
        <p:spPr>
          <a:xfrm>
            <a:off x="490250" y="526350"/>
            <a:ext cx="57975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82" name="Google Shape;82;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3" name="Shape 83"/>
        <p:cNvGrpSpPr/>
        <p:nvPr/>
      </p:nvGrpSpPr>
      <p:grpSpPr>
        <a:xfrm>
          <a:off x="0" y="0"/>
          <a:ext cx="0" cy="0"/>
          <a:chOff x="0" y="0"/>
          <a:chExt cx="0" cy="0"/>
        </a:xfrm>
      </p:grpSpPr>
      <p:sp>
        <p:nvSpPr>
          <p:cNvPr id="84" name="Google Shape;84;p21"/>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5" name="Google Shape;85;p21"/>
          <p:cNvCxnSpPr/>
          <p:nvPr/>
        </p:nvCxnSpPr>
        <p:spPr>
          <a:xfrm>
            <a:off x="5029675" y="4495500"/>
            <a:ext cx="468300" cy="0"/>
          </a:xfrm>
          <a:prstGeom prst="straightConnector1">
            <a:avLst/>
          </a:prstGeom>
          <a:noFill/>
          <a:ln cap="flat" cmpd="sng" w="19050">
            <a:solidFill>
              <a:schemeClr val="lt2"/>
            </a:solidFill>
            <a:prstDash val="solid"/>
            <a:round/>
            <a:headEnd len="sm" w="sm" type="none"/>
            <a:tailEnd len="sm" w="sm" type="none"/>
          </a:ln>
        </p:spPr>
      </p:cxnSp>
      <p:sp>
        <p:nvSpPr>
          <p:cNvPr id="86" name="Google Shape;86;p21"/>
          <p:cNvSpPr txBox="1"/>
          <p:nvPr>
            <p:ph type="title"/>
          </p:nvPr>
        </p:nvSpPr>
        <p:spPr>
          <a:xfrm>
            <a:off x="265500" y="1205825"/>
            <a:ext cx="4045200" cy="1509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7" name="Google Shape;87;p21"/>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8" name="Google Shape;88;p21"/>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89" name="Google Shape;89;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0" name="Shape 90"/>
        <p:cNvGrpSpPr/>
        <p:nvPr/>
      </p:nvGrpSpPr>
      <p:grpSpPr>
        <a:xfrm>
          <a:off x="0" y="0"/>
          <a:ext cx="0" cy="0"/>
          <a:chOff x="0" y="0"/>
          <a:chExt cx="0" cy="0"/>
        </a:xfrm>
      </p:grpSpPr>
      <p:sp>
        <p:nvSpPr>
          <p:cNvPr id="91" name="Google Shape;91;p22"/>
          <p:cNvSpPr txBox="1"/>
          <p:nvPr>
            <p:ph idx="1" type="body"/>
          </p:nvPr>
        </p:nvSpPr>
        <p:spPr>
          <a:xfrm>
            <a:off x="311700" y="42368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None/>
              <a:defRPr sz="2100"/>
            </a:lvl1pPr>
          </a:lstStyle>
          <a:p/>
        </p:txBody>
      </p:sp>
      <p:sp>
        <p:nvSpPr>
          <p:cNvPr id="92" name="Google Shape;92;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3" name="Shape 93"/>
        <p:cNvGrpSpPr/>
        <p:nvPr/>
      </p:nvGrpSpPr>
      <p:grpSpPr>
        <a:xfrm>
          <a:off x="0" y="0"/>
          <a:ext cx="0" cy="0"/>
          <a:chOff x="0" y="0"/>
          <a:chExt cx="0" cy="0"/>
        </a:xfrm>
      </p:grpSpPr>
      <p:sp>
        <p:nvSpPr>
          <p:cNvPr id="94" name="Google Shape;94;p23"/>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23"/>
          <p:cNvSpPr txBox="1"/>
          <p:nvPr>
            <p:ph hasCustomPrompt="1" type="title"/>
          </p:nvPr>
        </p:nvSpPr>
        <p:spPr>
          <a:xfrm>
            <a:off x="311700" y="991475"/>
            <a:ext cx="8520600" cy="1917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96" name="Google Shape;96;p23"/>
          <p:cNvSpPr txBox="1"/>
          <p:nvPr>
            <p:ph idx="1" type="body"/>
          </p:nvPr>
        </p:nvSpPr>
        <p:spPr>
          <a:xfrm>
            <a:off x="311700" y="3071300"/>
            <a:ext cx="8520600" cy="901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97" name="Google Shape;97;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8" name="Shape 98"/>
        <p:cNvGrpSpPr/>
        <p:nvPr/>
      </p:nvGrpSpPr>
      <p:grpSpPr>
        <a:xfrm>
          <a:off x="0" y="0"/>
          <a:ext cx="0" cy="0"/>
          <a:chOff x="0" y="0"/>
          <a:chExt cx="0" cy="0"/>
        </a:xfrm>
      </p:grpSpPr>
      <p:sp>
        <p:nvSpPr>
          <p:cNvPr id="99" name="Google Shape;99;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pearmint">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1pPr>
            <a:lvl2pPr lvl="1">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2pPr>
            <a:lvl3pPr lvl="2">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3pPr>
            <a:lvl4pPr lvl="3">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4pPr>
            <a:lvl5pPr lvl="4">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5pPr>
            <a:lvl6pPr lvl="5">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6pPr>
            <a:lvl7pPr lvl="6">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7pPr>
            <a:lvl8pPr lvl="7">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8pPr>
            <a:lvl9pPr lvl="8">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Proxima Nova"/>
              <a:buChar char="●"/>
              <a:defRPr sz="1800">
                <a:solidFill>
                  <a:schemeClr val="accent3"/>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Proxima Nova"/>
                <a:ea typeface="Proxima Nova"/>
                <a:cs typeface="Proxima Nova"/>
                <a:sym typeface="Proxima Nova"/>
              </a:defRPr>
            </a:lvl1pPr>
            <a:lvl2pPr lvl="1" algn="r">
              <a:buNone/>
              <a:defRPr sz="1000">
                <a:solidFill>
                  <a:schemeClr val="dk1"/>
                </a:solidFill>
                <a:latin typeface="Proxima Nova"/>
                <a:ea typeface="Proxima Nova"/>
                <a:cs typeface="Proxima Nova"/>
                <a:sym typeface="Proxima Nova"/>
              </a:defRPr>
            </a:lvl2pPr>
            <a:lvl3pPr lvl="2" algn="r">
              <a:buNone/>
              <a:defRPr sz="1000">
                <a:solidFill>
                  <a:schemeClr val="dk1"/>
                </a:solidFill>
                <a:latin typeface="Proxima Nova"/>
                <a:ea typeface="Proxima Nova"/>
                <a:cs typeface="Proxima Nova"/>
                <a:sym typeface="Proxima Nova"/>
              </a:defRPr>
            </a:lvl3pPr>
            <a:lvl4pPr lvl="3" algn="r">
              <a:buNone/>
              <a:defRPr sz="1000">
                <a:solidFill>
                  <a:schemeClr val="dk1"/>
                </a:solidFill>
                <a:latin typeface="Proxima Nova"/>
                <a:ea typeface="Proxima Nova"/>
                <a:cs typeface="Proxima Nova"/>
                <a:sym typeface="Proxima Nova"/>
              </a:defRPr>
            </a:lvl4pPr>
            <a:lvl5pPr lvl="4" algn="r">
              <a:buNone/>
              <a:defRPr sz="1000">
                <a:solidFill>
                  <a:schemeClr val="dk1"/>
                </a:solidFill>
                <a:latin typeface="Proxima Nova"/>
                <a:ea typeface="Proxima Nova"/>
                <a:cs typeface="Proxima Nova"/>
                <a:sym typeface="Proxima Nova"/>
              </a:defRPr>
            </a:lvl5pPr>
            <a:lvl6pPr lvl="5" algn="r">
              <a:buNone/>
              <a:defRPr sz="1000">
                <a:solidFill>
                  <a:schemeClr val="dk1"/>
                </a:solidFill>
                <a:latin typeface="Proxima Nova"/>
                <a:ea typeface="Proxima Nova"/>
                <a:cs typeface="Proxima Nova"/>
                <a:sym typeface="Proxima Nova"/>
              </a:defRPr>
            </a:lvl6pPr>
            <a:lvl7pPr lvl="6" algn="r">
              <a:buNone/>
              <a:defRPr sz="1000">
                <a:solidFill>
                  <a:schemeClr val="dk1"/>
                </a:solidFill>
                <a:latin typeface="Proxima Nova"/>
                <a:ea typeface="Proxima Nova"/>
                <a:cs typeface="Proxima Nova"/>
                <a:sym typeface="Proxima Nova"/>
              </a:defRPr>
            </a:lvl7pPr>
            <a:lvl8pPr lvl="7" algn="r">
              <a:buNone/>
              <a:defRPr sz="1000">
                <a:solidFill>
                  <a:schemeClr val="dk1"/>
                </a:solidFill>
                <a:latin typeface="Proxima Nova"/>
                <a:ea typeface="Proxima Nova"/>
                <a:cs typeface="Proxima Nova"/>
                <a:sym typeface="Proxima Nova"/>
              </a:defRPr>
            </a:lvl8pPr>
            <a:lvl9pPr lvl="8" algn="r">
              <a:buNone/>
              <a:defRPr sz="1000">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5"/>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SzPts val="990"/>
              <a:buNone/>
            </a:pPr>
            <a:r>
              <a:rPr lang="en-GB" sz="3720"/>
              <a:t>2.3. Transformer Architecture</a:t>
            </a:r>
            <a:endParaRPr sz="372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02729"/>
        </a:solidFill>
      </p:bgPr>
    </p:bg>
    <p:spTree>
      <p:nvGrpSpPr>
        <p:cNvPr id="108" name="Shape 108"/>
        <p:cNvGrpSpPr/>
        <p:nvPr/>
      </p:nvGrpSpPr>
      <p:grpSpPr>
        <a:xfrm>
          <a:off x="0" y="0"/>
          <a:ext cx="0" cy="0"/>
          <a:chOff x="0" y="0"/>
          <a:chExt cx="0" cy="0"/>
        </a:xfrm>
      </p:grpSpPr>
      <p:sp>
        <p:nvSpPr>
          <p:cNvPr id="109" name="Google Shape;109;p26"/>
          <p:cNvSpPr txBox="1"/>
          <p:nvPr/>
        </p:nvSpPr>
        <p:spPr>
          <a:xfrm>
            <a:off x="3809700" y="-33975"/>
            <a:ext cx="15246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500">
                <a:solidFill>
                  <a:schemeClr val="lt1"/>
                </a:solidFill>
              </a:rPr>
              <a:t>Transformers</a:t>
            </a:r>
            <a:endParaRPr b="1" sz="1500">
              <a:solidFill>
                <a:schemeClr val="lt1"/>
              </a:solidFill>
            </a:endParaRPr>
          </a:p>
        </p:txBody>
      </p:sp>
      <p:grpSp>
        <p:nvGrpSpPr>
          <p:cNvPr id="110" name="Google Shape;110;p26"/>
          <p:cNvGrpSpPr/>
          <p:nvPr/>
        </p:nvGrpSpPr>
        <p:grpSpPr>
          <a:xfrm>
            <a:off x="5727673" y="843111"/>
            <a:ext cx="2982155" cy="3457279"/>
            <a:chOff x="395895" y="1653464"/>
            <a:chExt cx="2090100" cy="2423100"/>
          </a:xfrm>
        </p:grpSpPr>
        <p:sp>
          <p:nvSpPr>
            <p:cNvPr id="111" name="Google Shape;111;p26"/>
            <p:cNvSpPr/>
            <p:nvPr/>
          </p:nvSpPr>
          <p:spPr>
            <a:xfrm>
              <a:off x="736748" y="1653464"/>
              <a:ext cx="1419300" cy="2423100"/>
            </a:xfrm>
            <a:prstGeom prst="roundRect">
              <a:avLst>
                <a:gd fmla="val 16667" name="adj"/>
              </a:avLst>
            </a:prstGeom>
            <a:solidFill>
              <a:schemeClr val="lt2"/>
            </a:solidFill>
            <a:ln cap="flat" cmpd="sng" w="11050">
              <a:solidFill>
                <a:schemeClr val="dk2"/>
              </a:solidFill>
              <a:prstDash val="solid"/>
              <a:round/>
              <a:headEnd len="sm" w="sm" type="none"/>
              <a:tailEnd len="sm" w="sm" type="none"/>
            </a:ln>
          </p:spPr>
          <p:txBody>
            <a:bodyPr anchorCtr="0" anchor="ctr" bIns="106075" lIns="106075" spcFirstLastPara="1" rIns="106075" wrap="square" tIns="106075">
              <a:noAutofit/>
            </a:bodyPr>
            <a:lstStyle/>
            <a:p>
              <a:pPr indent="0" lvl="0" marL="0" rtl="0" algn="ctr">
                <a:spcBef>
                  <a:spcPts val="0"/>
                </a:spcBef>
                <a:spcAft>
                  <a:spcPts val="0"/>
                </a:spcAft>
                <a:buNone/>
              </a:pPr>
              <a:r>
                <a:t/>
              </a:r>
              <a:endParaRPr sz="1624">
                <a:latin typeface="Proxima Nova"/>
                <a:ea typeface="Proxima Nova"/>
                <a:cs typeface="Proxima Nova"/>
                <a:sym typeface="Proxima Nova"/>
              </a:endParaRPr>
            </a:p>
          </p:txBody>
        </p:sp>
        <p:pic>
          <p:nvPicPr>
            <p:cNvPr id="112" name="Google Shape;112;p26"/>
            <p:cNvPicPr preferRelativeResize="0"/>
            <p:nvPr/>
          </p:nvPicPr>
          <p:blipFill>
            <a:blip r:embed="rId3">
              <a:alphaModFix/>
            </a:blip>
            <a:stretch>
              <a:fillRect/>
            </a:stretch>
          </p:blipFill>
          <p:spPr>
            <a:xfrm>
              <a:off x="395895" y="1724424"/>
              <a:ext cx="2090100" cy="2198959"/>
            </a:xfrm>
            <a:prstGeom prst="rect">
              <a:avLst/>
            </a:prstGeom>
            <a:noFill/>
            <a:ln>
              <a:noFill/>
            </a:ln>
          </p:spPr>
        </p:pic>
      </p:grpSp>
      <p:cxnSp>
        <p:nvCxnSpPr>
          <p:cNvPr id="113" name="Google Shape;113;p26"/>
          <p:cNvCxnSpPr/>
          <p:nvPr/>
        </p:nvCxnSpPr>
        <p:spPr>
          <a:xfrm>
            <a:off x="3939550" y="350525"/>
            <a:ext cx="1196400" cy="0"/>
          </a:xfrm>
          <a:prstGeom prst="straightConnector1">
            <a:avLst/>
          </a:prstGeom>
          <a:noFill/>
          <a:ln cap="flat" cmpd="sng" w="9525">
            <a:solidFill>
              <a:schemeClr val="dk2"/>
            </a:solidFill>
            <a:prstDash val="solid"/>
            <a:round/>
            <a:headEnd len="med" w="med" type="none"/>
            <a:tailEnd len="med" w="med" type="none"/>
          </a:ln>
        </p:spPr>
      </p:cxnSp>
      <p:sp>
        <p:nvSpPr>
          <p:cNvPr id="114" name="Google Shape;114;p26"/>
          <p:cNvSpPr txBox="1"/>
          <p:nvPr/>
        </p:nvSpPr>
        <p:spPr>
          <a:xfrm>
            <a:off x="674425" y="1479500"/>
            <a:ext cx="4179600" cy="47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500">
                <a:solidFill>
                  <a:schemeClr val="lt2"/>
                </a:solidFill>
                <a:latin typeface="Proxima Nova"/>
                <a:ea typeface="Proxima Nova"/>
                <a:cs typeface="Proxima Nova"/>
                <a:sym typeface="Proxima Nova"/>
              </a:rPr>
              <a:t>Revolutionizing Natural Language Processing</a:t>
            </a:r>
            <a:endParaRPr b="1" sz="1500">
              <a:solidFill>
                <a:schemeClr val="lt2"/>
              </a:solidFill>
              <a:latin typeface="Proxima Nova"/>
              <a:ea typeface="Proxima Nova"/>
              <a:cs typeface="Proxima Nova"/>
              <a:sym typeface="Proxima Nova"/>
            </a:endParaRPr>
          </a:p>
        </p:txBody>
      </p:sp>
      <p:sp>
        <p:nvSpPr>
          <p:cNvPr id="115" name="Google Shape;115;p26"/>
          <p:cNvSpPr txBox="1"/>
          <p:nvPr/>
        </p:nvSpPr>
        <p:spPr>
          <a:xfrm>
            <a:off x="674425" y="1983700"/>
            <a:ext cx="5208300" cy="168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100">
              <a:solidFill>
                <a:schemeClr val="lt1"/>
              </a:solidFill>
              <a:latin typeface="Calibri"/>
              <a:ea typeface="Calibri"/>
              <a:cs typeface="Calibri"/>
              <a:sym typeface="Calibri"/>
            </a:endParaRPr>
          </a:p>
          <a:p>
            <a:pPr indent="-298450" lvl="0" marL="457200" rtl="0" algn="l">
              <a:spcBef>
                <a:spcPts val="0"/>
              </a:spcBef>
              <a:spcAft>
                <a:spcPts val="0"/>
              </a:spcAft>
              <a:buClr>
                <a:schemeClr val="lt1"/>
              </a:buClr>
              <a:buSzPts val="1100"/>
              <a:buFont typeface="Calibri"/>
              <a:buChar char="●"/>
            </a:pPr>
            <a:r>
              <a:rPr lang="en-GB" sz="1100">
                <a:solidFill>
                  <a:schemeClr val="lt1"/>
                </a:solidFill>
                <a:latin typeface="Calibri"/>
                <a:ea typeface="Calibri"/>
                <a:cs typeface="Calibri"/>
                <a:sym typeface="Calibri"/>
              </a:rPr>
              <a:t>Process entire sentences at once (not word-by-word).</a:t>
            </a:r>
            <a:endParaRPr sz="1100">
              <a:solidFill>
                <a:schemeClr val="lt1"/>
              </a:solidFill>
              <a:latin typeface="Calibri"/>
              <a:ea typeface="Calibri"/>
              <a:cs typeface="Calibri"/>
              <a:sym typeface="Calibri"/>
            </a:endParaRPr>
          </a:p>
          <a:p>
            <a:pPr indent="0" lvl="0" marL="457200" rtl="0" algn="l">
              <a:spcBef>
                <a:spcPts val="0"/>
              </a:spcBef>
              <a:spcAft>
                <a:spcPts val="0"/>
              </a:spcAft>
              <a:buNone/>
            </a:pPr>
            <a:r>
              <a:t/>
            </a:r>
            <a:endParaRPr sz="1100">
              <a:solidFill>
                <a:schemeClr val="lt1"/>
              </a:solidFill>
              <a:latin typeface="Calibri"/>
              <a:ea typeface="Calibri"/>
              <a:cs typeface="Calibri"/>
              <a:sym typeface="Calibri"/>
            </a:endParaRPr>
          </a:p>
          <a:p>
            <a:pPr indent="-298450" lvl="0" marL="457200" rtl="0" algn="l">
              <a:spcBef>
                <a:spcPts val="0"/>
              </a:spcBef>
              <a:spcAft>
                <a:spcPts val="0"/>
              </a:spcAft>
              <a:buClr>
                <a:schemeClr val="lt1"/>
              </a:buClr>
              <a:buSzPts val="1100"/>
              <a:buFont typeface="Calibri"/>
              <a:buChar char="●"/>
            </a:pPr>
            <a:r>
              <a:rPr lang="en-GB" sz="1100">
                <a:solidFill>
                  <a:schemeClr val="lt1"/>
                </a:solidFill>
                <a:latin typeface="Calibri"/>
                <a:ea typeface="Calibri"/>
                <a:cs typeface="Calibri"/>
                <a:sym typeface="Calibri"/>
              </a:rPr>
              <a:t>Powered by self-attention → captures word importance &amp; context.</a:t>
            </a:r>
            <a:endParaRPr sz="1100">
              <a:solidFill>
                <a:schemeClr val="lt1"/>
              </a:solidFill>
              <a:latin typeface="Calibri"/>
              <a:ea typeface="Calibri"/>
              <a:cs typeface="Calibri"/>
              <a:sym typeface="Calibri"/>
            </a:endParaRPr>
          </a:p>
          <a:p>
            <a:pPr indent="0" lvl="0" marL="457200" rtl="0" algn="l">
              <a:spcBef>
                <a:spcPts val="0"/>
              </a:spcBef>
              <a:spcAft>
                <a:spcPts val="0"/>
              </a:spcAft>
              <a:buNone/>
            </a:pPr>
            <a:r>
              <a:t/>
            </a:r>
            <a:endParaRPr sz="1100">
              <a:solidFill>
                <a:schemeClr val="lt1"/>
              </a:solidFill>
              <a:latin typeface="Calibri"/>
              <a:ea typeface="Calibri"/>
              <a:cs typeface="Calibri"/>
              <a:sym typeface="Calibri"/>
            </a:endParaRPr>
          </a:p>
          <a:p>
            <a:pPr indent="-298450" lvl="0" marL="457200" rtl="0" algn="l">
              <a:spcBef>
                <a:spcPts val="0"/>
              </a:spcBef>
              <a:spcAft>
                <a:spcPts val="0"/>
              </a:spcAft>
              <a:buClr>
                <a:schemeClr val="lt1"/>
              </a:buClr>
              <a:buSzPts val="1100"/>
              <a:buFont typeface="Calibri"/>
              <a:buChar char="●"/>
            </a:pPr>
            <a:r>
              <a:rPr lang="en-GB" sz="1100">
                <a:solidFill>
                  <a:schemeClr val="lt1"/>
                </a:solidFill>
                <a:latin typeface="Calibri"/>
                <a:ea typeface="Calibri"/>
                <a:cs typeface="Calibri"/>
                <a:sym typeface="Calibri"/>
              </a:rPr>
              <a:t>Origin: “Attention Is All You Need” (2017).</a:t>
            </a:r>
            <a:endParaRPr sz="1100">
              <a:solidFill>
                <a:schemeClr val="lt1"/>
              </a:solidFill>
              <a:latin typeface="Calibri"/>
              <a:ea typeface="Calibri"/>
              <a:cs typeface="Calibri"/>
              <a:sym typeface="Calibri"/>
            </a:endParaRPr>
          </a:p>
          <a:p>
            <a:pPr indent="0" lvl="0" marL="457200" rtl="0" algn="l">
              <a:spcBef>
                <a:spcPts val="0"/>
              </a:spcBef>
              <a:spcAft>
                <a:spcPts val="0"/>
              </a:spcAft>
              <a:buNone/>
            </a:pPr>
            <a:r>
              <a:t/>
            </a:r>
            <a:endParaRPr sz="1100">
              <a:solidFill>
                <a:schemeClr val="lt1"/>
              </a:solidFill>
              <a:latin typeface="Calibri"/>
              <a:ea typeface="Calibri"/>
              <a:cs typeface="Calibri"/>
              <a:sym typeface="Calibri"/>
            </a:endParaRPr>
          </a:p>
          <a:p>
            <a:pPr indent="-298450" lvl="0" marL="457200" rtl="0" algn="l">
              <a:spcBef>
                <a:spcPts val="0"/>
              </a:spcBef>
              <a:spcAft>
                <a:spcPts val="0"/>
              </a:spcAft>
              <a:buClr>
                <a:schemeClr val="lt1"/>
              </a:buClr>
              <a:buSzPts val="1100"/>
              <a:buFont typeface="Calibri"/>
              <a:buChar char="●"/>
            </a:pPr>
            <a:r>
              <a:rPr lang="en-GB" sz="1100">
                <a:solidFill>
                  <a:schemeClr val="lt1"/>
                </a:solidFill>
                <a:latin typeface="Calibri"/>
                <a:ea typeface="Calibri"/>
                <a:cs typeface="Calibri"/>
                <a:sym typeface="Calibri"/>
              </a:rPr>
              <a:t>Excels at translation, text generation, and more.</a:t>
            </a:r>
            <a:endParaRPr sz="1100">
              <a:solidFill>
                <a:schemeClr val="lt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02729"/>
        </a:solidFill>
      </p:bgPr>
    </p:bg>
    <p:spTree>
      <p:nvGrpSpPr>
        <p:cNvPr id="119" name="Shape 119"/>
        <p:cNvGrpSpPr/>
        <p:nvPr/>
      </p:nvGrpSpPr>
      <p:grpSpPr>
        <a:xfrm>
          <a:off x="0" y="0"/>
          <a:ext cx="0" cy="0"/>
          <a:chOff x="0" y="0"/>
          <a:chExt cx="0" cy="0"/>
        </a:xfrm>
      </p:grpSpPr>
      <p:sp>
        <p:nvSpPr>
          <p:cNvPr id="120" name="Google Shape;120;p27"/>
          <p:cNvSpPr txBox="1"/>
          <p:nvPr/>
        </p:nvSpPr>
        <p:spPr>
          <a:xfrm>
            <a:off x="3637650" y="-33975"/>
            <a:ext cx="18687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500">
                <a:solidFill>
                  <a:schemeClr val="lt1"/>
                </a:solidFill>
              </a:rPr>
              <a:t>Core Architecture</a:t>
            </a:r>
            <a:endParaRPr b="1" sz="1500">
              <a:solidFill>
                <a:schemeClr val="lt1"/>
              </a:solidFill>
            </a:endParaRPr>
          </a:p>
        </p:txBody>
      </p:sp>
      <p:grpSp>
        <p:nvGrpSpPr>
          <p:cNvPr id="121" name="Google Shape;121;p27"/>
          <p:cNvGrpSpPr/>
          <p:nvPr/>
        </p:nvGrpSpPr>
        <p:grpSpPr>
          <a:xfrm>
            <a:off x="683914" y="975032"/>
            <a:ext cx="3647583" cy="2901654"/>
            <a:chOff x="699938" y="1258925"/>
            <a:chExt cx="3479522" cy="633300"/>
          </a:xfrm>
        </p:grpSpPr>
        <p:sp>
          <p:nvSpPr>
            <p:cNvPr id="122" name="Google Shape;122;p27"/>
            <p:cNvSpPr/>
            <p:nvPr/>
          </p:nvSpPr>
          <p:spPr>
            <a:xfrm>
              <a:off x="699938" y="1258925"/>
              <a:ext cx="2683500" cy="633300"/>
            </a:xfrm>
            <a:prstGeom prst="roundRect">
              <a:avLst>
                <a:gd fmla="val 16667" name="adj"/>
              </a:avLst>
            </a:prstGeom>
            <a:solidFill>
              <a:schemeClr val="lt2"/>
            </a:solidFill>
            <a:ln cap="flat" cmpd="sng" w="15075">
              <a:solidFill>
                <a:schemeClr val="dk2"/>
              </a:solidFill>
              <a:prstDash val="solid"/>
              <a:round/>
              <a:headEnd len="sm" w="sm" type="none"/>
              <a:tailEnd len="sm" w="sm" type="none"/>
            </a:ln>
          </p:spPr>
          <p:txBody>
            <a:bodyPr anchorCtr="0" anchor="ctr" bIns="144575" lIns="144575" spcFirstLastPara="1" rIns="144575" wrap="square" tIns="144575">
              <a:noAutofit/>
            </a:bodyPr>
            <a:lstStyle/>
            <a:p>
              <a:pPr indent="0" lvl="0" marL="0" rtl="0" algn="l">
                <a:spcBef>
                  <a:spcPts val="0"/>
                </a:spcBef>
                <a:spcAft>
                  <a:spcPts val="0"/>
                </a:spcAft>
                <a:buNone/>
              </a:pPr>
              <a:r>
                <a:t/>
              </a:r>
              <a:endParaRPr sz="2213">
                <a:solidFill>
                  <a:schemeClr val="lt1"/>
                </a:solidFill>
                <a:latin typeface="Proxima Nova"/>
                <a:ea typeface="Proxima Nova"/>
                <a:cs typeface="Proxima Nova"/>
                <a:sym typeface="Proxima Nova"/>
              </a:endParaRPr>
            </a:p>
          </p:txBody>
        </p:sp>
        <p:sp>
          <p:nvSpPr>
            <p:cNvPr id="123" name="Google Shape;123;p27"/>
            <p:cNvSpPr/>
            <p:nvPr/>
          </p:nvSpPr>
          <p:spPr>
            <a:xfrm>
              <a:off x="765459" y="1258925"/>
              <a:ext cx="3414000" cy="633300"/>
            </a:xfrm>
            <a:prstGeom prst="roundRect">
              <a:avLst>
                <a:gd fmla="val 16667" name="adj"/>
              </a:avLst>
            </a:prstGeom>
            <a:solidFill>
              <a:srgbClr val="202729"/>
            </a:solidFill>
            <a:ln cap="flat" cmpd="sng" w="15075">
              <a:solidFill>
                <a:schemeClr val="dk2"/>
              </a:solidFill>
              <a:prstDash val="solid"/>
              <a:round/>
              <a:headEnd len="sm" w="sm" type="none"/>
              <a:tailEnd len="sm" w="sm" type="none"/>
            </a:ln>
          </p:spPr>
          <p:txBody>
            <a:bodyPr anchorCtr="0" anchor="ctr" bIns="144575" lIns="144575" spcFirstLastPara="1" rIns="144575" wrap="square" tIns="144575">
              <a:noAutofit/>
            </a:bodyPr>
            <a:lstStyle/>
            <a:p>
              <a:pPr indent="0" lvl="0" marL="0" rtl="0" algn="ctr">
                <a:spcBef>
                  <a:spcPts val="0"/>
                </a:spcBef>
                <a:spcAft>
                  <a:spcPts val="0"/>
                </a:spcAft>
                <a:buNone/>
              </a:pPr>
              <a:r>
                <a:t/>
              </a:r>
              <a:endParaRPr sz="2213">
                <a:latin typeface="Proxima Nova"/>
                <a:ea typeface="Proxima Nova"/>
                <a:cs typeface="Proxima Nova"/>
                <a:sym typeface="Proxima Nova"/>
              </a:endParaRPr>
            </a:p>
          </p:txBody>
        </p:sp>
      </p:grpSp>
      <p:sp>
        <p:nvSpPr>
          <p:cNvPr id="124" name="Google Shape;124;p27"/>
          <p:cNvSpPr txBox="1"/>
          <p:nvPr/>
        </p:nvSpPr>
        <p:spPr>
          <a:xfrm>
            <a:off x="825939" y="1097000"/>
            <a:ext cx="1762500" cy="41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300">
                <a:solidFill>
                  <a:srgbClr val="F1C232"/>
                </a:solidFill>
                <a:latin typeface="Calibri"/>
                <a:ea typeface="Calibri"/>
                <a:cs typeface="Calibri"/>
                <a:sym typeface="Calibri"/>
              </a:rPr>
              <a:t>Encoder</a:t>
            </a:r>
            <a:endParaRPr b="1" sz="1300">
              <a:solidFill>
                <a:srgbClr val="F1C232"/>
              </a:solidFill>
              <a:latin typeface="Calibri"/>
              <a:ea typeface="Calibri"/>
              <a:cs typeface="Calibri"/>
              <a:sym typeface="Calibri"/>
            </a:endParaRPr>
          </a:p>
        </p:txBody>
      </p:sp>
      <p:sp>
        <p:nvSpPr>
          <p:cNvPr id="125" name="Google Shape;125;p27"/>
          <p:cNvSpPr txBox="1"/>
          <p:nvPr/>
        </p:nvSpPr>
        <p:spPr>
          <a:xfrm>
            <a:off x="731688" y="1583525"/>
            <a:ext cx="3294900" cy="132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100">
                <a:solidFill>
                  <a:schemeClr val="lt1"/>
                </a:solidFill>
                <a:latin typeface="Calibri"/>
                <a:ea typeface="Calibri"/>
                <a:cs typeface="Calibri"/>
                <a:sym typeface="Calibri"/>
              </a:rPr>
              <a:t>The encoder converts input text into rich contextual embeddings through multiple stacked layers. Each layer combines self-attention and feed-forward networks, enabling bidirectional processing for complete context understanding.</a:t>
            </a:r>
            <a:endParaRPr sz="1100">
              <a:solidFill>
                <a:schemeClr val="lt1"/>
              </a:solidFill>
              <a:latin typeface="Calibri"/>
              <a:ea typeface="Calibri"/>
              <a:cs typeface="Calibri"/>
              <a:sym typeface="Calibri"/>
            </a:endParaRPr>
          </a:p>
        </p:txBody>
      </p:sp>
      <p:sp>
        <p:nvSpPr>
          <p:cNvPr id="126" name="Google Shape;126;p27"/>
          <p:cNvSpPr txBox="1"/>
          <p:nvPr/>
        </p:nvSpPr>
        <p:spPr>
          <a:xfrm>
            <a:off x="640576" y="2611125"/>
            <a:ext cx="3535200" cy="1322700"/>
          </a:xfrm>
          <a:prstGeom prst="rect">
            <a:avLst/>
          </a:prstGeom>
          <a:noFill/>
          <a:ln>
            <a:noFill/>
          </a:ln>
        </p:spPr>
        <p:txBody>
          <a:bodyPr anchorCtr="0" anchor="t" bIns="91425" lIns="91425" spcFirstLastPara="1" rIns="91425" wrap="square" tIns="91425">
            <a:noAutofit/>
          </a:bodyPr>
          <a:lstStyle/>
          <a:p>
            <a:pPr indent="-298450" lvl="0" marL="457200" rtl="0" algn="l">
              <a:spcBef>
                <a:spcPts val="0"/>
              </a:spcBef>
              <a:spcAft>
                <a:spcPts val="0"/>
              </a:spcAft>
              <a:buClr>
                <a:schemeClr val="lt1"/>
              </a:buClr>
              <a:buSzPts val="1100"/>
              <a:buFont typeface="Calibri"/>
              <a:buChar char="●"/>
            </a:pPr>
            <a:r>
              <a:rPr lang="en-GB" sz="1100">
                <a:solidFill>
                  <a:schemeClr val="lt1"/>
                </a:solidFill>
                <a:latin typeface="Calibri"/>
                <a:ea typeface="Calibri"/>
                <a:cs typeface="Calibri"/>
                <a:sym typeface="Calibri"/>
              </a:rPr>
              <a:t>Transforms input into contextual embeddings</a:t>
            </a:r>
            <a:endParaRPr sz="1100">
              <a:solidFill>
                <a:schemeClr val="lt1"/>
              </a:solidFill>
              <a:latin typeface="Calibri"/>
              <a:ea typeface="Calibri"/>
              <a:cs typeface="Calibri"/>
              <a:sym typeface="Calibri"/>
            </a:endParaRPr>
          </a:p>
          <a:p>
            <a:pPr indent="-298450" lvl="0" marL="457200" rtl="0" algn="l">
              <a:spcBef>
                <a:spcPts val="0"/>
              </a:spcBef>
              <a:spcAft>
                <a:spcPts val="0"/>
              </a:spcAft>
              <a:buClr>
                <a:schemeClr val="lt1"/>
              </a:buClr>
              <a:buSzPts val="1100"/>
              <a:buFont typeface="Calibri"/>
              <a:buChar char="●"/>
            </a:pPr>
            <a:r>
              <a:rPr lang="en-GB" sz="1100">
                <a:solidFill>
                  <a:schemeClr val="lt1"/>
                </a:solidFill>
                <a:latin typeface="Calibri"/>
                <a:ea typeface="Calibri"/>
                <a:cs typeface="Calibri"/>
                <a:sym typeface="Calibri"/>
              </a:rPr>
              <a:t>Stacked layers with self-attention + feed-forward</a:t>
            </a:r>
            <a:endParaRPr sz="1100">
              <a:solidFill>
                <a:schemeClr val="lt1"/>
              </a:solidFill>
              <a:latin typeface="Calibri"/>
              <a:ea typeface="Calibri"/>
              <a:cs typeface="Calibri"/>
              <a:sym typeface="Calibri"/>
            </a:endParaRPr>
          </a:p>
          <a:p>
            <a:pPr indent="-298450" lvl="0" marL="457200" rtl="0" algn="l">
              <a:spcBef>
                <a:spcPts val="0"/>
              </a:spcBef>
              <a:spcAft>
                <a:spcPts val="0"/>
              </a:spcAft>
              <a:buClr>
                <a:schemeClr val="lt1"/>
              </a:buClr>
              <a:buSzPts val="1100"/>
              <a:buFont typeface="Calibri"/>
              <a:buChar char="●"/>
            </a:pPr>
            <a:r>
              <a:rPr lang="en-GB" sz="1100">
                <a:solidFill>
                  <a:schemeClr val="lt1"/>
                </a:solidFill>
                <a:latin typeface="Calibri"/>
                <a:ea typeface="Calibri"/>
                <a:cs typeface="Calibri"/>
                <a:sym typeface="Calibri"/>
              </a:rPr>
              <a:t>Bidirectional for full context capture</a:t>
            </a:r>
            <a:endParaRPr sz="1100">
              <a:solidFill>
                <a:schemeClr val="lt1"/>
              </a:solidFill>
              <a:latin typeface="Calibri"/>
              <a:ea typeface="Calibri"/>
              <a:cs typeface="Calibri"/>
              <a:sym typeface="Calibri"/>
            </a:endParaRPr>
          </a:p>
          <a:p>
            <a:pPr indent="0" lvl="0" marL="0" rtl="0" algn="l">
              <a:spcBef>
                <a:spcPts val="0"/>
              </a:spcBef>
              <a:spcAft>
                <a:spcPts val="0"/>
              </a:spcAft>
              <a:buNone/>
            </a:pPr>
            <a:r>
              <a:t/>
            </a:r>
            <a:endParaRPr sz="1100">
              <a:solidFill>
                <a:schemeClr val="lt1"/>
              </a:solidFill>
              <a:latin typeface="Calibri"/>
              <a:ea typeface="Calibri"/>
              <a:cs typeface="Calibri"/>
              <a:sym typeface="Calibri"/>
            </a:endParaRPr>
          </a:p>
        </p:txBody>
      </p:sp>
      <p:grpSp>
        <p:nvGrpSpPr>
          <p:cNvPr id="127" name="Google Shape;127;p27"/>
          <p:cNvGrpSpPr/>
          <p:nvPr/>
        </p:nvGrpSpPr>
        <p:grpSpPr>
          <a:xfrm>
            <a:off x="4855864" y="975032"/>
            <a:ext cx="3647583" cy="2901654"/>
            <a:chOff x="699938" y="1258925"/>
            <a:chExt cx="3479522" cy="633300"/>
          </a:xfrm>
        </p:grpSpPr>
        <p:sp>
          <p:nvSpPr>
            <p:cNvPr id="128" name="Google Shape;128;p27"/>
            <p:cNvSpPr/>
            <p:nvPr/>
          </p:nvSpPr>
          <p:spPr>
            <a:xfrm>
              <a:off x="699938" y="1258925"/>
              <a:ext cx="2683500" cy="633300"/>
            </a:xfrm>
            <a:prstGeom prst="roundRect">
              <a:avLst>
                <a:gd fmla="val 16667" name="adj"/>
              </a:avLst>
            </a:prstGeom>
            <a:solidFill>
              <a:schemeClr val="lt2"/>
            </a:solidFill>
            <a:ln cap="flat" cmpd="sng" w="15075">
              <a:solidFill>
                <a:schemeClr val="dk2"/>
              </a:solidFill>
              <a:prstDash val="solid"/>
              <a:round/>
              <a:headEnd len="sm" w="sm" type="none"/>
              <a:tailEnd len="sm" w="sm" type="none"/>
            </a:ln>
          </p:spPr>
          <p:txBody>
            <a:bodyPr anchorCtr="0" anchor="ctr" bIns="144575" lIns="144575" spcFirstLastPara="1" rIns="144575" wrap="square" tIns="144575">
              <a:noAutofit/>
            </a:bodyPr>
            <a:lstStyle/>
            <a:p>
              <a:pPr indent="0" lvl="0" marL="0" rtl="0" algn="l">
                <a:spcBef>
                  <a:spcPts val="0"/>
                </a:spcBef>
                <a:spcAft>
                  <a:spcPts val="0"/>
                </a:spcAft>
                <a:buNone/>
              </a:pPr>
              <a:r>
                <a:t/>
              </a:r>
              <a:endParaRPr sz="2213">
                <a:solidFill>
                  <a:schemeClr val="lt1"/>
                </a:solidFill>
                <a:latin typeface="Proxima Nova"/>
                <a:ea typeface="Proxima Nova"/>
                <a:cs typeface="Proxima Nova"/>
                <a:sym typeface="Proxima Nova"/>
              </a:endParaRPr>
            </a:p>
          </p:txBody>
        </p:sp>
        <p:sp>
          <p:nvSpPr>
            <p:cNvPr id="129" name="Google Shape;129;p27"/>
            <p:cNvSpPr/>
            <p:nvPr/>
          </p:nvSpPr>
          <p:spPr>
            <a:xfrm>
              <a:off x="765459" y="1258925"/>
              <a:ext cx="3414000" cy="633300"/>
            </a:xfrm>
            <a:prstGeom prst="roundRect">
              <a:avLst>
                <a:gd fmla="val 16667" name="adj"/>
              </a:avLst>
            </a:prstGeom>
            <a:solidFill>
              <a:srgbClr val="202729"/>
            </a:solidFill>
            <a:ln cap="flat" cmpd="sng" w="15075">
              <a:solidFill>
                <a:schemeClr val="dk2"/>
              </a:solidFill>
              <a:prstDash val="solid"/>
              <a:round/>
              <a:headEnd len="sm" w="sm" type="none"/>
              <a:tailEnd len="sm" w="sm" type="none"/>
            </a:ln>
          </p:spPr>
          <p:txBody>
            <a:bodyPr anchorCtr="0" anchor="ctr" bIns="144575" lIns="144575" spcFirstLastPara="1" rIns="144575" wrap="square" tIns="144575">
              <a:noAutofit/>
            </a:bodyPr>
            <a:lstStyle/>
            <a:p>
              <a:pPr indent="0" lvl="0" marL="0" rtl="0" algn="ctr">
                <a:spcBef>
                  <a:spcPts val="0"/>
                </a:spcBef>
                <a:spcAft>
                  <a:spcPts val="0"/>
                </a:spcAft>
                <a:buNone/>
              </a:pPr>
              <a:r>
                <a:t/>
              </a:r>
              <a:endParaRPr sz="2213">
                <a:latin typeface="Proxima Nova"/>
                <a:ea typeface="Proxima Nova"/>
                <a:cs typeface="Proxima Nova"/>
                <a:sym typeface="Proxima Nova"/>
              </a:endParaRPr>
            </a:p>
          </p:txBody>
        </p:sp>
      </p:grpSp>
      <p:sp>
        <p:nvSpPr>
          <p:cNvPr id="130" name="Google Shape;130;p27"/>
          <p:cNvSpPr txBox="1"/>
          <p:nvPr/>
        </p:nvSpPr>
        <p:spPr>
          <a:xfrm>
            <a:off x="5095814" y="1096988"/>
            <a:ext cx="1762500" cy="41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300">
                <a:solidFill>
                  <a:srgbClr val="F1C232"/>
                </a:solidFill>
                <a:latin typeface="Calibri"/>
                <a:ea typeface="Calibri"/>
                <a:cs typeface="Calibri"/>
                <a:sym typeface="Calibri"/>
              </a:rPr>
              <a:t>Decoder</a:t>
            </a:r>
            <a:endParaRPr b="1" sz="1300">
              <a:solidFill>
                <a:srgbClr val="F1C232"/>
              </a:solidFill>
              <a:latin typeface="Calibri"/>
              <a:ea typeface="Calibri"/>
              <a:cs typeface="Calibri"/>
              <a:sym typeface="Calibri"/>
            </a:endParaRPr>
          </a:p>
        </p:txBody>
      </p:sp>
      <p:sp>
        <p:nvSpPr>
          <p:cNvPr id="131" name="Google Shape;131;p27"/>
          <p:cNvSpPr txBox="1"/>
          <p:nvPr/>
        </p:nvSpPr>
        <p:spPr>
          <a:xfrm>
            <a:off x="5001563" y="1583513"/>
            <a:ext cx="3294900" cy="132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100">
                <a:solidFill>
                  <a:schemeClr val="lt1"/>
                </a:solidFill>
                <a:latin typeface="Calibri"/>
                <a:ea typeface="Calibri"/>
                <a:cs typeface="Calibri"/>
                <a:sym typeface="Calibri"/>
              </a:rPr>
              <a:t>The decoder generates output sequences step by step, using masked self-attention to preserve causality and cross-attention to integrate encoder information, ensuring coherent and contextually accurate outputs.</a:t>
            </a:r>
            <a:endParaRPr sz="1100">
              <a:solidFill>
                <a:schemeClr val="lt1"/>
              </a:solidFill>
              <a:latin typeface="Calibri"/>
              <a:ea typeface="Calibri"/>
              <a:cs typeface="Calibri"/>
              <a:sym typeface="Calibri"/>
            </a:endParaRPr>
          </a:p>
        </p:txBody>
      </p:sp>
      <p:sp>
        <p:nvSpPr>
          <p:cNvPr id="132" name="Google Shape;132;p27"/>
          <p:cNvSpPr txBox="1"/>
          <p:nvPr/>
        </p:nvSpPr>
        <p:spPr>
          <a:xfrm>
            <a:off x="4910438" y="2611113"/>
            <a:ext cx="3294900" cy="1322700"/>
          </a:xfrm>
          <a:prstGeom prst="rect">
            <a:avLst/>
          </a:prstGeom>
          <a:noFill/>
          <a:ln>
            <a:noFill/>
          </a:ln>
        </p:spPr>
        <p:txBody>
          <a:bodyPr anchorCtr="0" anchor="t" bIns="91425" lIns="91425" spcFirstLastPara="1" rIns="91425" wrap="square" tIns="91425">
            <a:noAutofit/>
          </a:bodyPr>
          <a:lstStyle/>
          <a:p>
            <a:pPr indent="-298450" lvl="0" marL="457200" rtl="0" algn="l">
              <a:spcBef>
                <a:spcPts val="0"/>
              </a:spcBef>
              <a:spcAft>
                <a:spcPts val="0"/>
              </a:spcAft>
              <a:buClr>
                <a:schemeClr val="lt1"/>
              </a:buClr>
              <a:buSzPts val="1100"/>
              <a:buFont typeface="Calibri"/>
              <a:buChar char="●"/>
            </a:pPr>
            <a:r>
              <a:rPr lang="en-GB" sz="1100">
                <a:solidFill>
                  <a:schemeClr val="lt1"/>
                </a:solidFill>
                <a:latin typeface="Calibri"/>
                <a:ea typeface="Calibri"/>
                <a:cs typeface="Calibri"/>
                <a:sym typeface="Calibri"/>
              </a:rPr>
              <a:t>Produces output auto-regressively (one token at a time)</a:t>
            </a:r>
            <a:endParaRPr sz="1100">
              <a:solidFill>
                <a:schemeClr val="lt1"/>
              </a:solidFill>
              <a:latin typeface="Calibri"/>
              <a:ea typeface="Calibri"/>
              <a:cs typeface="Calibri"/>
              <a:sym typeface="Calibri"/>
            </a:endParaRPr>
          </a:p>
          <a:p>
            <a:pPr indent="-298450" lvl="0" marL="457200" rtl="0" algn="l">
              <a:spcBef>
                <a:spcPts val="0"/>
              </a:spcBef>
              <a:spcAft>
                <a:spcPts val="0"/>
              </a:spcAft>
              <a:buClr>
                <a:schemeClr val="lt1"/>
              </a:buClr>
              <a:buSzPts val="1100"/>
              <a:buFont typeface="Calibri"/>
              <a:buChar char="●"/>
            </a:pPr>
            <a:r>
              <a:rPr lang="en-GB" sz="1100">
                <a:solidFill>
                  <a:schemeClr val="lt1"/>
                </a:solidFill>
                <a:latin typeface="Calibri"/>
                <a:ea typeface="Calibri"/>
                <a:cs typeface="Calibri"/>
                <a:sym typeface="Calibri"/>
              </a:rPr>
              <a:t>Masked self-attention prevents future-token leakage</a:t>
            </a:r>
            <a:endParaRPr sz="1100">
              <a:solidFill>
                <a:schemeClr val="lt1"/>
              </a:solidFill>
              <a:latin typeface="Calibri"/>
              <a:ea typeface="Calibri"/>
              <a:cs typeface="Calibri"/>
              <a:sym typeface="Calibri"/>
            </a:endParaRPr>
          </a:p>
          <a:p>
            <a:pPr indent="-298450" lvl="0" marL="457200" rtl="0" algn="l">
              <a:spcBef>
                <a:spcPts val="0"/>
              </a:spcBef>
              <a:spcAft>
                <a:spcPts val="0"/>
              </a:spcAft>
              <a:buClr>
                <a:schemeClr val="lt1"/>
              </a:buClr>
              <a:buSzPts val="1100"/>
              <a:buFont typeface="Calibri"/>
              <a:buChar char="●"/>
            </a:pPr>
            <a:r>
              <a:rPr lang="en-GB" sz="1100">
                <a:solidFill>
                  <a:schemeClr val="lt1"/>
                </a:solidFill>
                <a:latin typeface="Calibri"/>
                <a:ea typeface="Calibri"/>
                <a:cs typeface="Calibri"/>
                <a:sym typeface="Calibri"/>
              </a:rPr>
              <a:t>Cross-attention leverages encoder representations</a:t>
            </a:r>
            <a:endParaRPr sz="1100">
              <a:solidFill>
                <a:schemeClr val="lt1"/>
              </a:solidFill>
              <a:latin typeface="Calibri"/>
              <a:ea typeface="Calibri"/>
              <a:cs typeface="Calibri"/>
              <a:sym typeface="Calibri"/>
            </a:endParaRPr>
          </a:p>
          <a:p>
            <a:pPr indent="0" lvl="0" marL="0" rtl="0" algn="l">
              <a:spcBef>
                <a:spcPts val="0"/>
              </a:spcBef>
              <a:spcAft>
                <a:spcPts val="0"/>
              </a:spcAft>
              <a:buNone/>
            </a:pPr>
            <a:r>
              <a:t/>
            </a:r>
            <a:endParaRPr sz="1200">
              <a:solidFill>
                <a:schemeClr val="lt1"/>
              </a:solidFill>
              <a:latin typeface="Calibri"/>
              <a:ea typeface="Calibri"/>
              <a:cs typeface="Calibri"/>
              <a:sym typeface="Calibri"/>
            </a:endParaRPr>
          </a:p>
        </p:txBody>
      </p:sp>
      <p:cxnSp>
        <p:nvCxnSpPr>
          <p:cNvPr id="133" name="Google Shape;133;p27"/>
          <p:cNvCxnSpPr/>
          <p:nvPr/>
        </p:nvCxnSpPr>
        <p:spPr>
          <a:xfrm>
            <a:off x="3749050" y="327650"/>
            <a:ext cx="1592700" cy="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02729"/>
        </a:solidFill>
      </p:bgPr>
    </p:bg>
    <p:spTree>
      <p:nvGrpSpPr>
        <p:cNvPr id="137" name="Shape 137"/>
        <p:cNvGrpSpPr/>
        <p:nvPr/>
      </p:nvGrpSpPr>
      <p:grpSpPr>
        <a:xfrm>
          <a:off x="0" y="0"/>
          <a:ext cx="0" cy="0"/>
          <a:chOff x="0" y="0"/>
          <a:chExt cx="0" cy="0"/>
        </a:xfrm>
      </p:grpSpPr>
      <p:sp>
        <p:nvSpPr>
          <p:cNvPr id="138" name="Google Shape;138;p28"/>
          <p:cNvSpPr txBox="1"/>
          <p:nvPr/>
        </p:nvSpPr>
        <p:spPr>
          <a:xfrm>
            <a:off x="3268800" y="-33975"/>
            <a:ext cx="26064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500">
                <a:solidFill>
                  <a:schemeClr val="lt1"/>
                </a:solidFill>
              </a:rPr>
              <a:t>Self-Attention Mechanism</a:t>
            </a:r>
            <a:endParaRPr b="1" sz="1500">
              <a:solidFill>
                <a:schemeClr val="lt1"/>
              </a:solidFill>
            </a:endParaRPr>
          </a:p>
        </p:txBody>
      </p:sp>
      <p:grpSp>
        <p:nvGrpSpPr>
          <p:cNvPr id="139" name="Google Shape;139;p28"/>
          <p:cNvGrpSpPr/>
          <p:nvPr/>
        </p:nvGrpSpPr>
        <p:grpSpPr>
          <a:xfrm>
            <a:off x="609598" y="843111"/>
            <a:ext cx="2982155" cy="3457279"/>
            <a:chOff x="395895" y="1653464"/>
            <a:chExt cx="2090100" cy="2423100"/>
          </a:xfrm>
        </p:grpSpPr>
        <p:sp>
          <p:nvSpPr>
            <p:cNvPr id="140" name="Google Shape;140;p28"/>
            <p:cNvSpPr/>
            <p:nvPr/>
          </p:nvSpPr>
          <p:spPr>
            <a:xfrm>
              <a:off x="736748" y="1653464"/>
              <a:ext cx="1419300" cy="2423100"/>
            </a:xfrm>
            <a:prstGeom prst="roundRect">
              <a:avLst>
                <a:gd fmla="val 16667" name="adj"/>
              </a:avLst>
            </a:prstGeom>
            <a:solidFill>
              <a:schemeClr val="lt2"/>
            </a:solidFill>
            <a:ln cap="flat" cmpd="sng" w="11050">
              <a:solidFill>
                <a:schemeClr val="dk2"/>
              </a:solidFill>
              <a:prstDash val="solid"/>
              <a:round/>
              <a:headEnd len="sm" w="sm" type="none"/>
              <a:tailEnd len="sm" w="sm" type="none"/>
            </a:ln>
          </p:spPr>
          <p:txBody>
            <a:bodyPr anchorCtr="0" anchor="ctr" bIns="106075" lIns="106075" spcFirstLastPara="1" rIns="106075" wrap="square" tIns="106075">
              <a:noAutofit/>
            </a:bodyPr>
            <a:lstStyle/>
            <a:p>
              <a:pPr indent="0" lvl="0" marL="0" rtl="0" algn="ctr">
                <a:spcBef>
                  <a:spcPts val="0"/>
                </a:spcBef>
                <a:spcAft>
                  <a:spcPts val="0"/>
                </a:spcAft>
                <a:buNone/>
              </a:pPr>
              <a:r>
                <a:t/>
              </a:r>
              <a:endParaRPr sz="1624">
                <a:latin typeface="Proxima Nova"/>
                <a:ea typeface="Proxima Nova"/>
                <a:cs typeface="Proxima Nova"/>
                <a:sym typeface="Proxima Nova"/>
              </a:endParaRPr>
            </a:p>
          </p:txBody>
        </p:sp>
        <p:pic>
          <p:nvPicPr>
            <p:cNvPr id="141" name="Google Shape;141;p28"/>
            <p:cNvPicPr preferRelativeResize="0"/>
            <p:nvPr/>
          </p:nvPicPr>
          <p:blipFill>
            <a:blip r:embed="rId3">
              <a:alphaModFix/>
            </a:blip>
            <a:stretch>
              <a:fillRect/>
            </a:stretch>
          </p:blipFill>
          <p:spPr>
            <a:xfrm>
              <a:off x="395895" y="1724424"/>
              <a:ext cx="2090100" cy="2198959"/>
            </a:xfrm>
            <a:prstGeom prst="rect">
              <a:avLst/>
            </a:prstGeom>
            <a:noFill/>
            <a:ln>
              <a:noFill/>
            </a:ln>
          </p:spPr>
        </p:pic>
      </p:grpSp>
      <p:cxnSp>
        <p:nvCxnSpPr>
          <p:cNvPr id="142" name="Google Shape;142;p28"/>
          <p:cNvCxnSpPr/>
          <p:nvPr/>
        </p:nvCxnSpPr>
        <p:spPr>
          <a:xfrm>
            <a:off x="3390900" y="350525"/>
            <a:ext cx="2324100" cy="0"/>
          </a:xfrm>
          <a:prstGeom prst="straightConnector1">
            <a:avLst/>
          </a:prstGeom>
          <a:noFill/>
          <a:ln cap="flat" cmpd="sng" w="9525">
            <a:solidFill>
              <a:schemeClr val="dk2"/>
            </a:solidFill>
            <a:prstDash val="solid"/>
            <a:round/>
            <a:headEnd len="med" w="med" type="none"/>
            <a:tailEnd len="med" w="med" type="none"/>
          </a:ln>
        </p:spPr>
      </p:cxnSp>
      <p:grpSp>
        <p:nvGrpSpPr>
          <p:cNvPr id="143" name="Google Shape;143;p28"/>
          <p:cNvGrpSpPr/>
          <p:nvPr/>
        </p:nvGrpSpPr>
        <p:grpSpPr>
          <a:xfrm>
            <a:off x="4777745" y="780913"/>
            <a:ext cx="3848105" cy="945125"/>
            <a:chOff x="4853945" y="967475"/>
            <a:chExt cx="3848105" cy="945125"/>
          </a:xfrm>
        </p:grpSpPr>
        <p:sp>
          <p:nvSpPr>
            <p:cNvPr id="144" name="Google Shape;144;p28"/>
            <p:cNvSpPr/>
            <p:nvPr/>
          </p:nvSpPr>
          <p:spPr>
            <a:xfrm>
              <a:off x="4853950" y="998200"/>
              <a:ext cx="3848100" cy="9144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145" name="Google Shape;145;p28"/>
            <p:cNvSpPr txBox="1"/>
            <p:nvPr/>
          </p:nvSpPr>
          <p:spPr>
            <a:xfrm>
              <a:off x="4853945" y="967475"/>
              <a:ext cx="1010400" cy="41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100">
                  <a:solidFill>
                    <a:srgbClr val="F1C232"/>
                  </a:solidFill>
                  <a:latin typeface="Calibri"/>
                  <a:ea typeface="Calibri"/>
                  <a:cs typeface="Calibri"/>
                  <a:sym typeface="Calibri"/>
                </a:rPr>
                <a:t>Purpose</a:t>
              </a:r>
              <a:endParaRPr b="1" sz="1100">
                <a:solidFill>
                  <a:srgbClr val="F1C232"/>
                </a:solidFill>
                <a:latin typeface="Calibri"/>
                <a:ea typeface="Calibri"/>
                <a:cs typeface="Calibri"/>
                <a:sym typeface="Calibri"/>
              </a:endParaRPr>
            </a:p>
          </p:txBody>
        </p:sp>
        <p:sp>
          <p:nvSpPr>
            <p:cNvPr id="146" name="Google Shape;146;p28"/>
            <p:cNvSpPr txBox="1"/>
            <p:nvPr/>
          </p:nvSpPr>
          <p:spPr>
            <a:xfrm>
              <a:off x="4853950" y="1229200"/>
              <a:ext cx="3509100" cy="68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solidFill>
                    <a:schemeClr val="lt1"/>
                  </a:solidFill>
                  <a:latin typeface="Calibri"/>
                  <a:ea typeface="Calibri"/>
                  <a:cs typeface="Calibri"/>
                  <a:sym typeface="Calibri"/>
                </a:rPr>
                <a:t>Allows the model to weigh the importance of each word in a sequence relative to all others, enabling rich context understanding.</a:t>
              </a:r>
              <a:endParaRPr sz="1000">
                <a:solidFill>
                  <a:schemeClr val="lt1"/>
                </a:solidFill>
                <a:latin typeface="Calibri"/>
                <a:ea typeface="Calibri"/>
                <a:cs typeface="Calibri"/>
                <a:sym typeface="Calibri"/>
              </a:endParaRPr>
            </a:p>
          </p:txBody>
        </p:sp>
      </p:grpSp>
      <p:grpSp>
        <p:nvGrpSpPr>
          <p:cNvPr id="147" name="Google Shape;147;p28"/>
          <p:cNvGrpSpPr/>
          <p:nvPr/>
        </p:nvGrpSpPr>
        <p:grpSpPr>
          <a:xfrm>
            <a:off x="4777748" y="2175388"/>
            <a:ext cx="3848100" cy="945125"/>
            <a:chOff x="4853950" y="2361950"/>
            <a:chExt cx="3848100" cy="945125"/>
          </a:xfrm>
        </p:grpSpPr>
        <p:sp>
          <p:nvSpPr>
            <p:cNvPr id="148" name="Google Shape;148;p28"/>
            <p:cNvSpPr/>
            <p:nvPr/>
          </p:nvSpPr>
          <p:spPr>
            <a:xfrm>
              <a:off x="4853950" y="2392675"/>
              <a:ext cx="3848100" cy="9144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149" name="Google Shape;149;p28"/>
            <p:cNvSpPr txBox="1"/>
            <p:nvPr/>
          </p:nvSpPr>
          <p:spPr>
            <a:xfrm>
              <a:off x="4853950" y="2361950"/>
              <a:ext cx="1242000" cy="41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100">
                  <a:solidFill>
                    <a:srgbClr val="F1C232"/>
                  </a:solidFill>
                  <a:latin typeface="Calibri"/>
                  <a:ea typeface="Calibri"/>
                  <a:cs typeface="Calibri"/>
                  <a:sym typeface="Calibri"/>
                </a:rPr>
                <a:t>Query–Key–Value</a:t>
              </a:r>
              <a:endParaRPr b="1" sz="1100">
                <a:solidFill>
                  <a:srgbClr val="F1C232"/>
                </a:solidFill>
                <a:latin typeface="Calibri"/>
                <a:ea typeface="Calibri"/>
                <a:cs typeface="Calibri"/>
                <a:sym typeface="Calibri"/>
              </a:endParaRPr>
            </a:p>
          </p:txBody>
        </p:sp>
        <p:sp>
          <p:nvSpPr>
            <p:cNvPr id="150" name="Google Shape;150;p28"/>
            <p:cNvSpPr txBox="1"/>
            <p:nvPr/>
          </p:nvSpPr>
          <p:spPr>
            <a:xfrm>
              <a:off x="4853950" y="2623675"/>
              <a:ext cx="3509100" cy="68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solidFill>
                    <a:schemeClr val="lt1"/>
                  </a:solidFill>
                  <a:latin typeface="Calibri"/>
                  <a:ea typeface="Calibri"/>
                  <a:cs typeface="Calibri"/>
                  <a:sym typeface="Calibri"/>
                </a:rPr>
                <a:t>Self-attention uses Query, Key, and Value vectors (from input embeddings via linear projections) to model relationships between tokens.</a:t>
              </a:r>
              <a:endParaRPr sz="1000">
                <a:solidFill>
                  <a:schemeClr val="lt1"/>
                </a:solidFill>
                <a:latin typeface="Calibri"/>
                <a:ea typeface="Calibri"/>
                <a:cs typeface="Calibri"/>
                <a:sym typeface="Calibri"/>
              </a:endParaRPr>
            </a:p>
          </p:txBody>
        </p:sp>
      </p:grpSp>
      <p:grpSp>
        <p:nvGrpSpPr>
          <p:cNvPr id="151" name="Google Shape;151;p28"/>
          <p:cNvGrpSpPr/>
          <p:nvPr/>
        </p:nvGrpSpPr>
        <p:grpSpPr>
          <a:xfrm>
            <a:off x="4777748" y="3569863"/>
            <a:ext cx="3848100" cy="945125"/>
            <a:chOff x="4853950" y="3756425"/>
            <a:chExt cx="3848100" cy="945125"/>
          </a:xfrm>
        </p:grpSpPr>
        <p:sp>
          <p:nvSpPr>
            <p:cNvPr id="152" name="Google Shape;152;p28"/>
            <p:cNvSpPr/>
            <p:nvPr/>
          </p:nvSpPr>
          <p:spPr>
            <a:xfrm>
              <a:off x="4853950" y="3787150"/>
              <a:ext cx="3848100" cy="9144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153" name="Google Shape;153;p28"/>
            <p:cNvSpPr txBox="1"/>
            <p:nvPr/>
          </p:nvSpPr>
          <p:spPr>
            <a:xfrm>
              <a:off x="4853950" y="3756425"/>
              <a:ext cx="1531500" cy="41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100">
                  <a:solidFill>
                    <a:srgbClr val="F1C232"/>
                  </a:solidFill>
                  <a:latin typeface="Calibri"/>
                  <a:ea typeface="Calibri"/>
                  <a:cs typeface="Calibri"/>
                  <a:sym typeface="Calibri"/>
                </a:rPr>
                <a:t>Attention Computation</a:t>
              </a:r>
              <a:endParaRPr b="1" sz="1100">
                <a:solidFill>
                  <a:srgbClr val="F1C232"/>
                </a:solidFill>
                <a:latin typeface="Calibri"/>
                <a:ea typeface="Calibri"/>
                <a:cs typeface="Calibri"/>
                <a:sym typeface="Calibri"/>
              </a:endParaRPr>
            </a:p>
          </p:txBody>
        </p:sp>
        <p:sp>
          <p:nvSpPr>
            <p:cNvPr id="154" name="Google Shape;154;p28"/>
            <p:cNvSpPr txBox="1"/>
            <p:nvPr/>
          </p:nvSpPr>
          <p:spPr>
            <a:xfrm>
              <a:off x="4853950" y="4018150"/>
              <a:ext cx="3509100" cy="68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solidFill>
                    <a:schemeClr val="lt1"/>
                  </a:solidFill>
                  <a:latin typeface="Calibri"/>
                  <a:ea typeface="Calibri"/>
                  <a:cs typeface="Calibri"/>
                  <a:sym typeface="Calibri"/>
                </a:rPr>
                <a:t>Attention scores = similarity between Query and Key, normalized with softmax, then applied to Values → produces context-aware representations for each token.</a:t>
              </a:r>
              <a:endParaRPr sz="1000">
                <a:solidFill>
                  <a:schemeClr val="lt1"/>
                </a:solidFill>
                <a:latin typeface="Calibri"/>
                <a:ea typeface="Calibri"/>
                <a:cs typeface="Calibri"/>
                <a:sym typeface="Calibri"/>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02729"/>
        </a:solidFill>
      </p:bgPr>
    </p:bg>
    <p:spTree>
      <p:nvGrpSpPr>
        <p:cNvPr id="158" name="Shape 158"/>
        <p:cNvGrpSpPr/>
        <p:nvPr/>
      </p:nvGrpSpPr>
      <p:grpSpPr>
        <a:xfrm>
          <a:off x="0" y="0"/>
          <a:ext cx="0" cy="0"/>
          <a:chOff x="0" y="0"/>
          <a:chExt cx="0" cy="0"/>
        </a:xfrm>
      </p:grpSpPr>
      <p:sp>
        <p:nvSpPr>
          <p:cNvPr id="159" name="Google Shape;159;p29"/>
          <p:cNvSpPr txBox="1"/>
          <p:nvPr/>
        </p:nvSpPr>
        <p:spPr>
          <a:xfrm>
            <a:off x="3268800" y="-33975"/>
            <a:ext cx="26064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500">
                <a:solidFill>
                  <a:schemeClr val="lt1"/>
                </a:solidFill>
              </a:rPr>
              <a:t>Self-Attention Mechanism</a:t>
            </a:r>
            <a:endParaRPr b="1" sz="1500">
              <a:solidFill>
                <a:schemeClr val="lt1"/>
              </a:solidFill>
            </a:endParaRPr>
          </a:p>
        </p:txBody>
      </p:sp>
      <p:cxnSp>
        <p:nvCxnSpPr>
          <p:cNvPr id="160" name="Google Shape;160;p29"/>
          <p:cNvCxnSpPr/>
          <p:nvPr/>
        </p:nvCxnSpPr>
        <p:spPr>
          <a:xfrm>
            <a:off x="3390900" y="350525"/>
            <a:ext cx="2324100" cy="0"/>
          </a:xfrm>
          <a:prstGeom prst="straightConnector1">
            <a:avLst/>
          </a:prstGeom>
          <a:noFill/>
          <a:ln cap="flat" cmpd="sng" w="9525">
            <a:solidFill>
              <a:schemeClr val="dk2"/>
            </a:solidFill>
            <a:prstDash val="solid"/>
            <a:round/>
            <a:headEnd len="med" w="med" type="none"/>
            <a:tailEnd len="med" w="med" type="none"/>
          </a:ln>
        </p:spPr>
      </p:cxnSp>
      <p:sp>
        <p:nvSpPr>
          <p:cNvPr id="161" name="Google Shape;161;p29"/>
          <p:cNvSpPr txBox="1"/>
          <p:nvPr/>
        </p:nvSpPr>
        <p:spPr>
          <a:xfrm>
            <a:off x="3830185" y="961738"/>
            <a:ext cx="1531500" cy="41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100">
                <a:solidFill>
                  <a:srgbClr val="F1C232"/>
                </a:solidFill>
                <a:latin typeface="Calibri"/>
                <a:ea typeface="Calibri"/>
                <a:cs typeface="Calibri"/>
                <a:sym typeface="Calibri"/>
              </a:rPr>
              <a:t>Positional Encoding</a:t>
            </a:r>
            <a:endParaRPr b="1" sz="1100">
              <a:solidFill>
                <a:srgbClr val="F1C232"/>
              </a:solidFill>
              <a:latin typeface="Calibri"/>
              <a:ea typeface="Calibri"/>
              <a:cs typeface="Calibri"/>
              <a:sym typeface="Calibri"/>
            </a:endParaRPr>
          </a:p>
        </p:txBody>
      </p:sp>
      <p:sp>
        <p:nvSpPr>
          <p:cNvPr id="162" name="Google Shape;162;p29"/>
          <p:cNvSpPr txBox="1"/>
          <p:nvPr/>
        </p:nvSpPr>
        <p:spPr>
          <a:xfrm>
            <a:off x="3830204" y="1282525"/>
            <a:ext cx="4732200" cy="121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solidFill>
                  <a:schemeClr val="lt1"/>
                </a:solidFill>
                <a:latin typeface="Calibri"/>
                <a:ea typeface="Calibri"/>
                <a:cs typeface="Calibri"/>
                <a:sym typeface="Calibri"/>
              </a:rPr>
              <a:t>Transformers look at all words at once, so they need a way to know the order of words in a sentence. Positional encoding adds this order information. Using patterns like sine and cosine waves, each word gets a unique “position signal.” When added to word embeddings, the model can understand both the meaning of words and their order.</a:t>
            </a:r>
            <a:endParaRPr sz="1000">
              <a:solidFill>
                <a:schemeClr val="lt1"/>
              </a:solidFill>
              <a:latin typeface="Calibri"/>
              <a:ea typeface="Calibri"/>
              <a:cs typeface="Calibri"/>
              <a:sym typeface="Calibri"/>
            </a:endParaRPr>
          </a:p>
        </p:txBody>
      </p:sp>
      <p:pic>
        <p:nvPicPr>
          <p:cNvPr id="163" name="Google Shape;163;p29"/>
          <p:cNvPicPr preferRelativeResize="0"/>
          <p:nvPr/>
        </p:nvPicPr>
        <p:blipFill rotWithShape="1">
          <a:blip r:embed="rId3">
            <a:alphaModFix/>
          </a:blip>
          <a:srcRect b="0" l="4284" r="44948" t="5908"/>
          <a:stretch/>
        </p:blipFill>
        <p:spPr>
          <a:xfrm>
            <a:off x="1032538" y="961748"/>
            <a:ext cx="1432200" cy="1352700"/>
          </a:xfrm>
          <a:prstGeom prst="ellipse">
            <a:avLst/>
          </a:prstGeom>
          <a:noFill/>
          <a:ln cap="flat" cmpd="sng" w="38100">
            <a:solidFill>
              <a:schemeClr val="lt2"/>
            </a:solidFill>
            <a:prstDash val="solid"/>
            <a:round/>
            <a:headEnd len="sm" w="sm" type="none"/>
            <a:tailEnd len="sm" w="sm" type="none"/>
          </a:ln>
        </p:spPr>
      </p:pic>
      <p:pic>
        <p:nvPicPr>
          <p:cNvPr id="164" name="Google Shape;164;p29"/>
          <p:cNvPicPr preferRelativeResize="0"/>
          <p:nvPr/>
        </p:nvPicPr>
        <p:blipFill rotWithShape="1">
          <a:blip r:embed="rId4">
            <a:alphaModFix/>
          </a:blip>
          <a:srcRect b="7897" l="21769" r="30333" t="11684"/>
          <a:stretch/>
        </p:blipFill>
        <p:spPr>
          <a:xfrm>
            <a:off x="6728923" y="3149149"/>
            <a:ext cx="1432200" cy="1352700"/>
          </a:xfrm>
          <a:prstGeom prst="ellipse">
            <a:avLst/>
          </a:prstGeom>
          <a:noFill/>
          <a:ln cap="flat" cmpd="sng" w="38100">
            <a:solidFill>
              <a:schemeClr val="dk2"/>
            </a:solidFill>
            <a:prstDash val="solid"/>
            <a:round/>
            <a:headEnd len="sm" w="sm" type="none"/>
            <a:tailEnd len="sm" w="sm" type="none"/>
          </a:ln>
        </p:spPr>
      </p:pic>
      <p:sp>
        <p:nvSpPr>
          <p:cNvPr id="165" name="Google Shape;165;p29"/>
          <p:cNvSpPr txBox="1"/>
          <p:nvPr/>
        </p:nvSpPr>
        <p:spPr>
          <a:xfrm>
            <a:off x="982798" y="3060000"/>
            <a:ext cx="1531500" cy="41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100">
                <a:solidFill>
                  <a:srgbClr val="F1C232"/>
                </a:solidFill>
                <a:latin typeface="Calibri"/>
                <a:ea typeface="Calibri"/>
                <a:cs typeface="Calibri"/>
                <a:sym typeface="Calibri"/>
              </a:rPr>
              <a:t>Training Process</a:t>
            </a:r>
            <a:endParaRPr b="1" sz="1100">
              <a:solidFill>
                <a:srgbClr val="F1C232"/>
              </a:solidFill>
              <a:latin typeface="Calibri"/>
              <a:ea typeface="Calibri"/>
              <a:cs typeface="Calibri"/>
              <a:sym typeface="Calibri"/>
            </a:endParaRPr>
          </a:p>
        </p:txBody>
      </p:sp>
      <p:sp>
        <p:nvSpPr>
          <p:cNvPr id="166" name="Google Shape;166;p29"/>
          <p:cNvSpPr txBox="1"/>
          <p:nvPr/>
        </p:nvSpPr>
        <p:spPr>
          <a:xfrm>
            <a:off x="982800" y="3380800"/>
            <a:ext cx="4732200" cy="121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solidFill>
                  <a:schemeClr val="lt1"/>
                </a:solidFill>
                <a:latin typeface="Calibri"/>
                <a:ea typeface="Calibri"/>
                <a:cs typeface="Calibri"/>
                <a:sym typeface="Calibri"/>
              </a:rPr>
              <a:t>Transformers are first trained on huge amounts of text (pre-training) and then adjusted for specific tasks (fine-tuning). They learn in a self-supervised way, using methods like filling in missing words (masked language modeling) or predicting the next sentence. By seeing billions of words, they pick up grammar, meaning, and patterns in language, which makes them useful for many applications.</a:t>
            </a:r>
            <a:endParaRPr sz="1000">
              <a:solidFill>
                <a:schemeClr val="lt1"/>
              </a:solidFill>
              <a:latin typeface="Calibri"/>
              <a:ea typeface="Calibri"/>
              <a:cs typeface="Calibri"/>
              <a:sym typeface="Calibri"/>
            </a:endParaRPr>
          </a:p>
        </p:txBody>
      </p:sp>
      <p:cxnSp>
        <p:nvCxnSpPr>
          <p:cNvPr id="167" name="Google Shape;167;p29"/>
          <p:cNvCxnSpPr/>
          <p:nvPr/>
        </p:nvCxnSpPr>
        <p:spPr>
          <a:xfrm>
            <a:off x="3925875" y="833875"/>
            <a:ext cx="450300" cy="0"/>
          </a:xfrm>
          <a:prstGeom prst="straightConnector1">
            <a:avLst/>
          </a:prstGeom>
          <a:noFill/>
          <a:ln cap="flat" cmpd="sng" w="28575">
            <a:solidFill>
              <a:schemeClr val="dk2"/>
            </a:solidFill>
            <a:prstDash val="solid"/>
            <a:round/>
            <a:headEnd len="med" w="med" type="none"/>
            <a:tailEnd len="med" w="med" type="none"/>
          </a:ln>
        </p:spPr>
      </p:cxnSp>
      <p:cxnSp>
        <p:nvCxnSpPr>
          <p:cNvPr id="168" name="Google Shape;168;p29"/>
          <p:cNvCxnSpPr/>
          <p:nvPr/>
        </p:nvCxnSpPr>
        <p:spPr>
          <a:xfrm>
            <a:off x="1074850" y="2934450"/>
            <a:ext cx="450300" cy="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
</file>

<file path=ppt/theme/theme1.xml><?xml version="1.0" encoding="utf-8"?>
<a:theme xmlns:a="http://schemas.openxmlformats.org/drawingml/2006/main" xmlns:r="http://schemas.openxmlformats.org/officeDocument/2006/relationships"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